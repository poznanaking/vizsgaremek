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6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>
        <p:scale>
          <a:sx n="33" d="100"/>
          <a:sy n="33" d="100"/>
        </p:scale>
        <p:origin x="151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Munka1!$B$4</c15:sqref>
                  <c15:spPr xmlns:c15="http://schemas.microsoft.com/office/drawing/2012/chart">
                    <a:solidFill>
                      <a:schemeClr val="accent1">
                        <a:shade val="76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</c15:categoryFilterException>
                <c15:categoryFilterException>
                  <c15:sqref>Munka1!$B$5</c15:sqref>
                  <c15:spPr xmlns:c15="http://schemas.microsoft.com/office/drawing/2012/chart">
                    <a:solidFill>
                      <a:schemeClr val="accent1">
                        <a:shade val="76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Kell e ilyen program?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BF-4A9D-8030-4CFBFB11BB99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BF-4A9D-8030-4CFBFB11BB99}"/>
              </c:ext>
            </c:extLst>
          </c:dPt>
          <c:cat>
            <c:strRef>
              <c:f>Munka1!$A$2:$A$5</c:f>
              <c:strCache>
                <c:ptCount val="2"/>
                <c:pt idx="0">
                  <c:v>Igen Válasz</c:v>
                </c:pt>
                <c:pt idx="1">
                  <c:v>Nem Válasz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8-C5BF-4A9D-8030-4CFBFB11B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507A9C-6BF9-C7A8-0D68-7F7BCC520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772CE14-9C08-63BA-719B-285DF168B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5C0C62-9C9C-4257-7F0F-3DDD4DF1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B7520E-C618-BBC7-1F65-EED8535C9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2C66D5D-A117-3164-6A8D-1F0830F9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385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038A0B-B9F6-B2C7-0682-8C3B8647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B8C2A0-B1FB-D3E5-A0FD-3C9B1EF43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8C136C5-DBC1-EB7C-F185-5C678CB3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E74F600-829D-33EC-AEC8-2B039A5D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7815F7-EC5F-ACFD-A3B2-41ECEA74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222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573B06-B5B9-6748-190E-8EFDBD24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4AC9A54-5B13-B8D8-12CD-5CF86055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0902DB-0187-5CCF-63E7-FF280F1E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11652BA-7360-91CF-2FB4-F7BB63F3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913F3F2-C302-3563-50EE-0EBB6589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685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7615FF-2DCD-BB74-5741-DE29B2E4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EB021E-E3FC-4DAA-B981-07E24092D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1058086-42DF-AB8F-D960-9E824274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40217FB-9184-F09B-677A-FE1E0B81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6DF002-0203-5D2C-3847-F5FD3832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FEBE3DB-97C2-30FE-8069-4D5834D9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260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BE4C1D-F4A7-8693-5D4B-14EC7A0C3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80CE0B9-664D-541C-E37F-E6B69F58C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0469882-0B80-2D66-ED0B-B6032AD9B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A8F9A73-E673-40FF-1F30-BF2446C81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8E809ED-E3D5-55F9-76B5-6A37B7FB9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F164573-31E8-77A7-B16D-293AD628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E8E5056-8450-F31E-D033-129E6B64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94B77CD-5DB9-F7D4-8730-600A7A78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550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B5399B-9CB8-9369-A5C8-F8C1430C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9A9172F-286F-DE8C-0507-CA29D2B8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98F6300-4C71-7296-6712-72FEF22B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D82CBB5-4D49-9E60-1B59-C799DCF6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467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4A9B446-47E8-9A6F-9214-3D99EA1F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83ADD1A-53AB-530A-F3A4-9F682F37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0D7250B-6C73-0379-0FDC-11E1C7CC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09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2C0796-7F20-5A6E-D109-834622E3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73DFCD-5F36-B290-2F73-F972E61FF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DFC4C7C-2750-20D9-00D4-C51011DC5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C3EC097-C05F-A8D3-0EF7-D569101E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4290393-0254-6721-54D2-CE323D8D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CA7ECF-2F97-3DA1-AC4A-901BF02B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56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353C49-0141-8DEF-57B6-DE2FF957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E73C4DD-A273-1C34-BB9F-EDF39233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961BB69-C888-5CDD-8EFB-0D7F39962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596E645-2FC3-FB11-7725-F5F13C1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6885E4E-FBA7-23BC-EB7F-9407F2B3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E0C7571-8AC7-7F97-3BE1-83EEE2FE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23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80BF1B-2EED-9633-5FA8-514A5E75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E7FF790-9A28-2ED3-469D-AC63F7008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472B219-57A4-E949-A343-36E2689A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4DA8F75-758A-24AE-48A8-23B10F22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46AF10-AF88-6716-948F-F8C18622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352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84FC653-3588-2AE3-2FDA-730EC742A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41FA4BB-ECAB-DAFB-4009-6252BFCB0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BEAD54-5CD6-526B-A23B-298A2A59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B1D2E5-7A66-E681-59C1-164AA373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9991F89-5948-562B-D9F5-78082644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1576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81317DD-BC60-51F7-DA07-EA3287CA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694B2C2-5012-0BD6-E935-24D10E517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B0A8C5-BF7B-4C95-B166-C8ACD9563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AB3EA-E387-4E5A-9871-BF8D3528FF1F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98543B-C059-4CAA-EA75-4B9651318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D320B9-2755-B772-0F6A-41A5078B8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1F767-3C88-458E-84D3-9620FCAD75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741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18979D50-34D0-C380-7669-E8D05A067290}"/>
              </a:ext>
            </a:extLst>
          </p:cNvPr>
          <p:cNvGrpSpPr/>
          <p:nvPr/>
        </p:nvGrpSpPr>
        <p:grpSpPr>
          <a:xfrm>
            <a:off x="865240" y="668739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B1350EBB-1A21-1191-9A30-25942D2BAE6E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074B32D4-8EDE-4B61-B569-87CE17A65698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51F3714A-7619-3069-AA27-4A2F569FCDC9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C53F0484-EEB4-F563-4674-40772C3A13AF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1988515E-6F04-B5C7-B305-0E02092645C6}"/>
              </a:ext>
            </a:extLst>
          </p:cNvPr>
          <p:cNvGrpSpPr/>
          <p:nvPr/>
        </p:nvGrpSpPr>
        <p:grpSpPr>
          <a:xfrm>
            <a:off x="865240" y="6914509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47BA3CF3-1BE5-587B-3F86-882D2F562659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ABFAB558-2968-66BD-D002-481D4B629686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F2A45BC3-3D8D-ABF8-3811-46D9E507C27B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4F203952-4937-9622-D9D0-274BE2ED0973}"/>
              </a:ext>
            </a:extLst>
          </p:cNvPr>
          <p:cNvGrpSpPr/>
          <p:nvPr/>
        </p:nvGrpSpPr>
        <p:grpSpPr>
          <a:xfrm>
            <a:off x="938027" y="10557159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5844AD5F-7F2A-B7B5-AEAE-085E8A67E845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5644A60F-B004-2329-00A6-4DF523B67639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7A9953FE-B6A1-4CE4-1D17-7777A1FD4804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920132F8-0D05-44CB-0D50-7FC1C19E205B}"/>
              </a:ext>
            </a:extLst>
          </p:cNvPr>
          <p:cNvGrpSpPr/>
          <p:nvPr/>
        </p:nvGrpSpPr>
        <p:grpSpPr>
          <a:xfrm>
            <a:off x="938027" y="14218301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B471F208-20C4-B1F1-33A6-8578CD0D8A5C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AD777B39-7C06-06F7-DE98-AA5EACA9BE5A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4CAA1B9A-69AD-98B1-D9F5-FE4BA25BBCD3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C8124838-BAA6-4021-194A-7618991A71E2}"/>
              </a:ext>
            </a:extLst>
          </p:cNvPr>
          <p:cNvGrpSpPr/>
          <p:nvPr/>
        </p:nvGrpSpPr>
        <p:grpSpPr>
          <a:xfrm>
            <a:off x="1017943" y="17988193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B1006448-F7C7-998A-69E8-81033524F464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67E6CED3-BA1D-426D-D738-8C48C98A7097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BED404EA-2411-899E-CFB9-2AB15A3B8C80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74B493AC-A897-701D-FB24-4B57BC85F3B3}"/>
              </a:ext>
            </a:extLst>
          </p:cNvPr>
          <p:cNvGrpSpPr/>
          <p:nvPr/>
        </p:nvGrpSpPr>
        <p:grpSpPr>
          <a:xfrm>
            <a:off x="1017943" y="21604701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88641524-E18A-6708-2D7A-681B97A6923D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69EE452E-0FF7-3AE7-44CC-841FC4E36E3A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68AA085C-DF04-0E21-98E8-D0A1ADF0AFBA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2AA28CFD-BF83-B369-807E-98843A3D6DD0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132348DA-B363-775B-71FB-8EF1DAE774C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1745115"/>
                </p:ext>
              </p:extLst>
            </p:nvPr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2C3971ED-026C-479E-F8D1-385B1D03C807}"/>
              </a:ext>
            </a:extLst>
          </p:cNvPr>
          <p:cNvSpPr/>
          <p:nvPr/>
        </p:nvSpPr>
        <p:spPr>
          <a:xfrm>
            <a:off x="945155" y="28972640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D00C7280-04EA-FFB3-80CA-0BEB7D5F869E}"/>
              </a:ext>
            </a:extLst>
          </p:cNvPr>
          <p:cNvSpPr/>
          <p:nvPr/>
        </p:nvSpPr>
        <p:spPr>
          <a:xfrm>
            <a:off x="945155" y="32670592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30BBF0DD-A057-DB2D-53A7-EF498AA354C5}"/>
              </a:ext>
            </a:extLst>
          </p:cNvPr>
          <p:cNvSpPr/>
          <p:nvPr/>
        </p:nvSpPr>
        <p:spPr>
          <a:xfrm>
            <a:off x="938027" y="363685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5FBE4516-8795-8E3D-6BA6-153A3B81C305}"/>
              </a:ext>
            </a:extLst>
          </p:cNvPr>
          <p:cNvSpPr/>
          <p:nvPr/>
        </p:nvSpPr>
        <p:spPr>
          <a:xfrm>
            <a:off x="938027" y="40010943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C40DED9A-7F25-5544-3557-7DFB6E8AA9A5}"/>
              </a:ext>
            </a:extLst>
          </p:cNvPr>
          <p:cNvSpPr/>
          <p:nvPr/>
        </p:nvSpPr>
        <p:spPr>
          <a:xfrm>
            <a:off x="1017943" y="437549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70A82762-AACE-0EB7-88CF-0A370D0D43B2}"/>
              </a:ext>
            </a:extLst>
          </p:cNvPr>
          <p:cNvGrpSpPr/>
          <p:nvPr/>
        </p:nvGrpSpPr>
        <p:grpSpPr>
          <a:xfrm>
            <a:off x="945155" y="2533024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25A4A1B6-569D-0F8E-12D4-3780A37B3C56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F14C3C2D-8677-C5A7-A5AB-5DD8E40F3E3A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BB6D28AA-7515-7246-DF12-DD5E76A0F6FB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sp>
        <p:nvSpPr>
          <p:cNvPr id="48" name="Szövegdoboz 47">
            <a:extLst>
              <a:ext uri="{FF2B5EF4-FFF2-40B4-BE49-F238E27FC236}">
                <a16:creationId xmlns:a16="http://schemas.microsoft.com/office/drawing/2014/main" id="{93CCDFE2-1B2F-6DBF-1DFE-04A722528033}"/>
              </a:ext>
            </a:extLst>
          </p:cNvPr>
          <p:cNvSpPr txBox="1"/>
          <p:nvPr/>
        </p:nvSpPr>
        <p:spPr>
          <a:xfrm>
            <a:off x="1458340" y="29478514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Bövebben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felhasználói oldalról: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31185EE0-A3ED-4930-6167-A07BFA3C64A8}"/>
              </a:ext>
            </a:extLst>
          </p:cNvPr>
          <p:cNvSpPr txBox="1"/>
          <p:nvPr/>
        </p:nvSpPr>
        <p:spPr>
          <a:xfrm>
            <a:off x="1596788" y="30299815"/>
            <a:ext cx="9103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felhasználói oldal mint említettem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-ban íródott, mely letisztult, egyszerű és kezelhető felületet biztosít a felhasználók részére. Emellett az átláthatóságra is lett fordítva idő.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96F3EDFF-A4EF-175F-91E4-0306BCB02448}"/>
              </a:ext>
            </a:extLst>
          </p:cNvPr>
          <p:cNvSpPr txBox="1"/>
          <p:nvPr/>
        </p:nvSpPr>
        <p:spPr>
          <a:xfrm>
            <a:off x="1378424" y="32985989"/>
            <a:ext cx="966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WPF oldalról: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52E3A543-DE71-85B7-5600-EFAE1DAC841D}"/>
              </a:ext>
            </a:extLst>
          </p:cNvPr>
          <p:cNvSpPr txBox="1"/>
          <p:nvPr/>
        </p:nvSpPr>
        <p:spPr>
          <a:xfrm>
            <a:off x="1305636" y="33829557"/>
            <a:ext cx="973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WPF (azaz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oldal egy letisztult és egyszerűen kezelhető felületet biztosít az oldal üzemeltetőinek, mely segít abban, hogy egy moderált közösséget lehessen építeni a PM projekt weboldalán.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15EE5E10-8974-3B38-A640-CE7BC8BA0457}"/>
              </a:ext>
            </a:extLst>
          </p:cNvPr>
          <p:cNvSpPr txBox="1"/>
          <p:nvPr/>
        </p:nvSpPr>
        <p:spPr>
          <a:xfrm>
            <a:off x="1312764" y="36634057"/>
            <a:ext cx="9646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oldalról: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CBE5BA6A-D976-8104-4971-DE2BF85BC511}"/>
              </a:ext>
            </a:extLst>
          </p:cNvPr>
          <p:cNvSpPr txBox="1"/>
          <p:nvPr/>
        </p:nvSpPr>
        <p:spPr>
          <a:xfrm>
            <a:off x="1378424" y="37426120"/>
            <a:ext cx="96606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 egy letisztult, érthető kommunikációt biztosít az adatbázis és a frontend programrészek között, mellyel lehetővé teszi azok rendeltetés szerű használatát mint a felhasználóknak, mint az üzemeltetőknek.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0A35A4EB-9578-608F-C121-0B682FB06E5E}"/>
              </a:ext>
            </a:extLst>
          </p:cNvPr>
          <p:cNvSpPr txBox="1"/>
          <p:nvPr/>
        </p:nvSpPr>
        <p:spPr>
          <a:xfrm>
            <a:off x="1378424" y="40291657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az adatbázisról: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D56250B2-2842-D136-7C6D-FD2BCB41759E}"/>
              </a:ext>
            </a:extLst>
          </p:cNvPr>
          <p:cNvSpPr txBox="1"/>
          <p:nvPr/>
        </p:nvSpPr>
        <p:spPr>
          <a:xfrm>
            <a:off x="1458340" y="41157146"/>
            <a:ext cx="9428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adatbázis mint már említett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MariaDB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-vel íródott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adatgyüjtő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backend segítségével az adatbázis előre megtervezett módon tárolja az adatokat, emellett biztonsági intézkedésekkel is el lett látva, mint például jelszó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hashelés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(titkosítás).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E7DD1E75-4D99-25B1-C2B0-AA425F03D5A4}"/>
              </a:ext>
            </a:extLst>
          </p:cNvPr>
          <p:cNvSpPr txBox="1"/>
          <p:nvPr/>
        </p:nvSpPr>
        <p:spPr>
          <a:xfrm>
            <a:off x="1596788" y="44123429"/>
            <a:ext cx="910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554966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74DC-A7D4-2BAB-E919-E237588C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36EE1CD7-B9B5-C2FA-D48E-39BF2C76F0EE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5B9D76C5-16F6-47D7-5FBE-F53D8D58A3B9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C0550712-9065-5CC7-5C8E-DA238860897E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81122231-AB37-6DC2-ABB6-9BF2809DC28E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90B31206-C19D-051D-EBC2-F8F19E613D70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412901E7-A747-0017-323D-42E94BDF23C3}"/>
              </a:ext>
            </a:extLst>
          </p:cNvPr>
          <p:cNvGrpSpPr/>
          <p:nvPr/>
        </p:nvGrpSpPr>
        <p:grpSpPr>
          <a:xfrm>
            <a:off x="938027" y="738690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77DE264F-936F-F993-DA0C-5A3CBEFEE98F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553A0CA2-08FA-D5AC-13C7-962A9741A02C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879E0869-B77A-95B5-AC91-4627D5EE383B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F589933A-8425-3391-ED46-AA56F4B8F1D1}"/>
              </a:ext>
            </a:extLst>
          </p:cNvPr>
          <p:cNvGrpSpPr/>
          <p:nvPr/>
        </p:nvGrpSpPr>
        <p:grpSpPr>
          <a:xfrm>
            <a:off x="938027" y="10557159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3DF8C7E3-A62A-EEEB-D0BA-4C9FEE0C3589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C28C9EC3-DDF7-91C5-C225-A925B9551347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97898672-127F-0823-548B-B3C645D15B70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F5F607D-4E74-EE08-3617-4477FA2B5A11}"/>
              </a:ext>
            </a:extLst>
          </p:cNvPr>
          <p:cNvGrpSpPr/>
          <p:nvPr/>
        </p:nvGrpSpPr>
        <p:grpSpPr>
          <a:xfrm>
            <a:off x="938027" y="14218301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1DA7D4DB-1CEE-7572-3DF9-276C5ECFBA4D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93D8DE1D-6AFF-1EA6-3BF2-53DCC3C043BC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83CCBB94-6242-BCD7-15D9-3BBA1633FA34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728B543A-D5E4-1E56-A4DE-3C25E0608792}"/>
              </a:ext>
            </a:extLst>
          </p:cNvPr>
          <p:cNvGrpSpPr/>
          <p:nvPr/>
        </p:nvGrpSpPr>
        <p:grpSpPr>
          <a:xfrm>
            <a:off x="1017943" y="17988193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D713413C-8F76-01EA-8A43-95B04A463C30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8F1AF27A-4957-DF63-E8B6-5CC9B362CEB5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74045752-7F0C-F1E9-F99E-A5B6D64E3378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4D770B34-9D95-F57A-660B-65007A5EDC46}"/>
              </a:ext>
            </a:extLst>
          </p:cNvPr>
          <p:cNvGrpSpPr/>
          <p:nvPr/>
        </p:nvGrpSpPr>
        <p:grpSpPr>
          <a:xfrm>
            <a:off x="1017943" y="21604701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1AE2E3AC-9682-514C-A40C-AE198B8A21A4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FB995E1F-32B6-E4BE-66D6-1FA819A8749C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8C20AF2B-87DC-620A-D162-535D0368FA69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7621E8D9-74B7-C727-D865-F1683022FC73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06601D27-CE28-467B-AF6B-5FED70DC4FE9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12661116-ED01-2611-F01E-38BEE7836C86}"/>
              </a:ext>
            </a:extLst>
          </p:cNvPr>
          <p:cNvSpPr/>
          <p:nvPr/>
        </p:nvSpPr>
        <p:spPr>
          <a:xfrm>
            <a:off x="945155" y="28972640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11E75FD6-60A6-ADC3-5AE1-1260A7EC243C}"/>
              </a:ext>
            </a:extLst>
          </p:cNvPr>
          <p:cNvSpPr/>
          <p:nvPr/>
        </p:nvSpPr>
        <p:spPr>
          <a:xfrm>
            <a:off x="945155" y="32670592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3AE993A7-91A1-BB9A-7E17-D68EFD918522}"/>
              </a:ext>
            </a:extLst>
          </p:cNvPr>
          <p:cNvSpPr/>
          <p:nvPr/>
        </p:nvSpPr>
        <p:spPr>
          <a:xfrm>
            <a:off x="938027" y="363685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E4ACE1BF-128B-A2DC-224A-F0B713B1075D}"/>
              </a:ext>
            </a:extLst>
          </p:cNvPr>
          <p:cNvSpPr/>
          <p:nvPr/>
        </p:nvSpPr>
        <p:spPr>
          <a:xfrm>
            <a:off x="938027" y="40010943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1BE7E8A7-1A8F-0F42-8A01-41FB2A5337EC}"/>
              </a:ext>
            </a:extLst>
          </p:cNvPr>
          <p:cNvSpPr/>
          <p:nvPr/>
        </p:nvSpPr>
        <p:spPr>
          <a:xfrm>
            <a:off x="1017943" y="437549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FCA7EBCD-4B7A-88AE-6139-06CECD46FC78}"/>
              </a:ext>
            </a:extLst>
          </p:cNvPr>
          <p:cNvGrpSpPr/>
          <p:nvPr/>
        </p:nvGrpSpPr>
        <p:grpSpPr>
          <a:xfrm>
            <a:off x="945155" y="2533024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930E4ECD-785A-9810-7E95-137AEF759461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B5FCA6FE-9179-7EB2-4F3F-42C004FFE7E1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AD143FB7-C17D-8BC5-AAE9-E539A58E2C13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sp>
        <p:nvSpPr>
          <p:cNvPr id="48" name="Szövegdoboz 47">
            <a:extLst>
              <a:ext uri="{FF2B5EF4-FFF2-40B4-BE49-F238E27FC236}">
                <a16:creationId xmlns:a16="http://schemas.microsoft.com/office/drawing/2014/main" id="{DDCD6461-F5DF-9706-F9E7-A09898896517}"/>
              </a:ext>
            </a:extLst>
          </p:cNvPr>
          <p:cNvSpPr txBox="1"/>
          <p:nvPr/>
        </p:nvSpPr>
        <p:spPr>
          <a:xfrm>
            <a:off x="1458340" y="29478514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Bövebben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felhasználói oldalról: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29AE7F37-1C0B-E8C1-0CFB-50E0E0E9D20D}"/>
              </a:ext>
            </a:extLst>
          </p:cNvPr>
          <p:cNvSpPr txBox="1"/>
          <p:nvPr/>
        </p:nvSpPr>
        <p:spPr>
          <a:xfrm>
            <a:off x="1596788" y="30299815"/>
            <a:ext cx="9103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felhasználói oldal mint említettem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-ban íródott, mely letisztult, egyszerű és kezelhető felületet biztosít a felhasználók részére. Emellett az átláthatóságra is lett fordítva idő.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06FDA187-12C7-8F36-FDBF-9EEEF088E4C3}"/>
              </a:ext>
            </a:extLst>
          </p:cNvPr>
          <p:cNvSpPr txBox="1"/>
          <p:nvPr/>
        </p:nvSpPr>
        <p:spPr>
          <a:xfrm>
            <a:off x="1378424" y="32985989"/>
            <a:ext cx="966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WPF oldalról: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487277C0-2A73-2DCB-49C9-B6A38695BD93}"/>
              </a:ext>
            </a:extLst>
          </p:cNvPr>
          <p:cNvSpPr txBox="1"/>
          <p:nvPr/>
        </p:nvSpPr>
        <p:spPr>
          <a:xfrm>
            <a:off x="1305636" y="33829557"/>
            <a:ext cx="973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WPF (azaz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oldal egy letisztult és egyszerűen kezelhető felületet biztosít az oldal üzemeltetőinek, mely segít abban, hogy egy moderált közösséget lehessen építeni a PM projekt weboldalán.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90A1044B-82E3-0C10-6B93-53510663A282}"/>
              </a:ext>
            </a:extLst>
          </p:cNvPr>
          <p:cNvSpPr txBox="1"/>
          <p:nvPr/>
        </p:nvSpPr>
        <p:spPr>
          <a:xfrm>
            <a:off x="1312764" y="36634057"/>
            <a:ext cx="9646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oldalról: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27651A93-4B7C-410A-DDAB-3C0272BA212F}"/>
              </a:ext>
            </a:extLst>
          </p:cNvPr>
          <p:cNvSpPr txBox="1"/>
          <p:nvPr/>
        </p:nvSpPr>
        <p:spPr>
          <a:xfrm>
            <a:off x="1378424" y="37426120"/>
            <a:ext cx="96606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 egy letisztult, érthető kommunikációt biztosít az adatbázis és a frontend programrészek között, mellyel lehetővé teszi azok rendeltetés szerű használatát mint a felhasználóknak, mint az üzemeltetőknek.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FFF51F26-7B68-2944-A140-0FC2E694B253}"/>
              </a:ext>
            </a:extLst>
          </p:cNvPr>
          <p:cNvSpPr txBox="1"/>
          <p:nvPr/>
        </p:nvSpPr>
        <p:spPr>
          <a:xfrm>
            <a:off x="1378424" y="40291657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az adatbázisról: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B33E3AD4-1E1E-BAE7-EEA1-98FD3631B840}"/>
              </a:ext>
            </a:extLst>
          </p:cNvPr>
          <p:cNvSpPr txBox="1"/>
          <p:nvPr/>
        </p:nvSpPr>
        <p:spPr>
          <a:xfrm>
            <a:off x="1458340" y="41157146"/>
            <a:ext cx="9428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adatbázis mint már említett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MariaDB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-vel íródott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adatgyüjtő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backend segítségével az adatbázis előre megtervezett módon tárolja az adatokat, emellett biztonsági intézkedésekkel is el lett látva, mint például jelszó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hashelés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(titkosítás).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DCF651AA-B0E9-1875-A17D-671529CCEB36}"/>
              </a:ext>
            </a:extLst>
          </p:cNvPr>
          <p:cNvSpPr txBox="1"/>
          <p:nvPr/>
        </p:nvSpPr>
        <p:spPr>
          <a:xfrm>
            <a:off x="1596788" y="44123429"/>
            <a:ext cx="910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82045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AE18-E76E-9CC8-13C6-10183BFE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2C10644E-7CAE-2616-CCFF-762B2A228B0F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F9508226-219D-949E-A398-A441E7607A3A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39CA81FF-7BE0-E3AC-E5B5-75D709D2521F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5E5C33AA-7656-400E-E476-8A113BB317C0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53A43730-24D0-F934-539C-BDBF4739A2FA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7960EB99-8169-A87B-6FC6-E3E11CB162D1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5F0DCF74-7527-4C37-4E18-BE5EDA7095AA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3BDA3A0F-5A30-F1B1-5277-D52D96C2DE3B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F07A18FE-5EE9-B222-5D35-4576376A7A0C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AA037B38-54BC-96CE-AAB8-C2824CDC3154}"/>
              </a:ext>
            </a:extLst>
          </p:cNvPr>
          <p:cNvGrpSpPr/>
          <p:nvPr/>
        </p:nvGrpSpPr>
        <p:grpSpPr>
          <a:xfrm>
            <a:off x="788782" y="692044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C13E58E4-DC26-6BA0-0B66-617B749CAA06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7F7EFFFF-80CB-A051-9413-77B7CAC864A8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5EF01C89-9A99-827B-EB41-138CD7A29D18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8F68352E-1A5F-B1A8-17B9-0123F13CE285}"/>
              </a:ext>
            </a:extLst>
          </p:cNvPr>
          <p:cNvGrpSpPr/>
          <p:nvPr/>
        </p:nvGrpSpPr>
        <p:grpSpPr>
          <a:xfrm>
            <a:off x="938027" y="14218301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72DB08FA-2627-0754-D07F-F35921DA7D6F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E57BD8C4-7AE7-BB26-84C1-B65D83E5A348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F6AB1703-BB7B-AB4C-8E40-813248157E95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73EFB06E-667F-0A4B-6F44-FF69867F12C5}"/>
              </a:ext>
            </a:extLst>
          </p:cNvPr>
          <p:cNvGrpSpPr/>
          <p:nvPr/>
        </p:nvGrpSpPr>
        <p:grpSpPr>
          <a:xfrm>
            <a:off x="1017943" y="17988193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18474B6C-2765-DB56-9A40-463F35C83409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79A8E1AB-7326-AE69-9FAA-70428DCD90F6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4DE938CA-B1AF-AFC6-433F-16C621A315F4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6B06886B-9DFB-6DF9-17E6-BA696419C655}"/>
              </a:ext>
            </a:extLst>
          </p:cNvPr>
          <p:cNvGrpSpPr/>
          <p:nvPr/>
        </p:nvGrpSpPr>
        <p:grpSpPr>
          <a:xfrm>
            <a:off x="1017943" y="21604701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A6FBD102-4DE7-5A5D-300F-36517ACF7E7D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3B2310A3-FB70-CF34-8133-BA6478C2A3D9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B10C0BAB-6EBE-3151-C874-679A80B12ECE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4C42E51A-D951-ADA1-B3B2-BC3EF319128A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6040BA1E-5D97-5F3F-3061-3A4F0E2C2C20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D1F201FC-EE01-C47F-0AA1-87F757C4F28A}"/>
              </a:ext>
            </a:extLst>
          </p:cNvPr>
          <p:cNvSpPr/>
          <p:nvPr/>
        </p:nvSpPr>
        <p:spPr>
          <a:xfrm>
            <a:off x="945155" y="28972640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2FA100C6-1B93-00FD-C1BA-727C0526D291}"/>
              </a:ext>
            </a:extLst>
          </p:cNvPr>
          <p:cNvSpPr/>
          <p:nvPr/>
        </p:nvSpPr>
        <p:spPr>
          <a:xfrm>
            <a:off x="945155" y="32670592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D235DFEB-7E41-861C-6A54-FF6728426A9E}"/>
              </a:ext>
            </a:extLst>
          </p:cNvPr>
          <p:cNvSpPr/>
          <p:nvPr/>
        </p:nvSpPr>
        <p:spPr>
          <a:xfrm>
            <a:off x="938027" y="363685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080DEC9E-0EF8-68E3-CE52-9DC38DF93086}"/>
              </a:ext>
            </a:extLst>
          </p:cNvPr>
          <p:cNvSpPr/>
          <p:nvPr/>
        </p:nvSpPr>
        <p:spPr>
          <a:xfrm>
            <a:off x="938027" y="40010943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2B76CBF8-55C5-1B55-0EA3-AEB7CAE050E3}"/>
              </a:ext>
            </a:extLst>
          </p:cNvPr>
          <p:cNvSpPr/>
          <p:nvPr/>
        </p:nvSpPr>
        <p:spPr>
          <a:xfrm>
            <a:off x="1017943" y="437549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2CF7A845-B98C-F076-128D-6B2A0EC712B6}"/>
              </a:ext>
            </a:extLst>
          </p:cNvPr>
          <p:cNvGrpSpPr/>
          <p:nvPr/>
        </p:nvGrpSpPr>
        <p:grpSpPr>
          <a:xfrm>
            <a:off x="945155" y="2533024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747B2ABF-0D14-C875-A193-69F7035EA8CB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F9444E03-C805-F167-3630-00D7D52CD426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624CDA09-2DF8-1B93-5ED4-FA193EA7FD74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sp>
        <p:nvSpPr>
          <p:cNvPr id="48" name="Szövegdoboz 47">
            <a:extLst>
              <a:ext uri="{FF2B5EF4-FFF2-40B4-BE49-F238E27FC236}">
                <a16:creationId xmlns:a16="http://schemas.microsoft.com/office/drawing/2014/main" id="{67206C74-79DB-BB39-11B2-8A7A271E9ACF}"/>
              </a:ext>
            </a:extLst>
          </p:cNvPr>
          <p:cNvSpPr txBox="1"/>
          <p:nvPr/>
        </p:nvSpPr>
        <p:spPr>
          <a:xfrm>
            <a:off x="1458340" y="29478514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Bövebben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felhasználói oldalról: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151E1615-3EFD-EF40-6A10-A73BA6F7E9F1}"/>
              </a:ext>
            </a:extLst>
          </p:cNvPr>
          <p:cNvSpPr txBox="1"/>
          <p:nvPr/>
        </p:nvSpPr>
        <p:spPr>
          <a:xfrm>
            <a:off x="1596788" y="30299815"/>
            <a:ext cx="9103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felhasználói oldal mint említettem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-ban íródott, mely letisztult, egyszerű és kezelhető felületet biztosít a felhasználók részére. Emellett az átláthatóságra is lett fordítva idő.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A252781F-9A07-B28B-4CC6-B30E10CC138B}"/>
              </a:ext>
            </a:extLst>
          </p:cNvPr>
          <p:cNvSpPr txBox="1"/>
          <p:nvPr/>
        </p:nvSpPr>
        <p:spPr>
          <a:xfrm>
            <a:off x="1378424" y="32985989"/>
            <a:ext cx="966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WPF oldalról: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4D1F891C-F1B4-1987-C3FF-C2CF8B057194}"/>
              </a:ext>
            </a:extLst>
          </p:cNvPr>
          <p:cNvSpPr txBox="1"/>
          <p:nvPr/>
        </p:nvSpPr>
        <p:spPr>
          <a:xfrm>
            <a:off x="1305636" y="33829557"/>
            <a:ext cx="973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WPF (azaz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oldal egy letisztult és egyszerűen kezelhető felületet biztosít az oldal üzemeltetőinek, mely segít abban, hogy egy moderált közösséget lehessen építeni a PM projekt weboldalán.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DD0D52FC-36FB-6157-C72E-A4BFA4FF1862}"/>
              </a:ext>
            </a:extLst>
          </p:cNvPr>
          <p:cNvSpPr txBox="1"/>
          <p:nvPr/>
        </p:nvSpPr>
        <p:spPr>
          <a:xfrm>
            <a:off x="1312764" y="36634057"/>
            <a:ext cx="9646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oldalról: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97F02472-8744-56EE-656C-8C159D31C996}"/>
              </a:ext>
            </a:extLst>
          </p:cNvPr>
          <p:cNvSpPr txBox="1"/>
          <p:nvPr/>
        </p:nvSpPr>
        <p:spPr>
          <a:xfrm>
            <a:off x="1378424" y="37426120"/>
            <a:ext cx="96606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 egy letisztult, érthető kommunikációt biztosít az adatbázis és a frontend programrészek között, mellyel lehetővé teszi azok rendeltetés szerű használatát mint a felhasználóknak, mint az üzemeltetőknek.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831B1AB1-7A2A-2709-972D-73A57578FE87}"/>
              </a:ext>
            </a:extLst>
          </p:cNvPr>
          <p:cNvSpPr txBox="1"/>
          <p:nvPr/>
        </p:nvSpPr>
        <p:spPr>
          <a:xfrm>
            <a:off x="1378424" y="40291657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az adatbázisról: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2B460396-5691-F3EB-933F-477C80BD0AA4}"/>
              </a:ext>
            </a:extLst>
          </p:cNvPr>
          <p:cNvSpPr txBox="1"/>
          <p:nvPr/>
        </p:nvSpPr>
        <p:spPr>
          <a:xfrm>
            <a:off x="1458340" y="41157146"/>
            <a:ext cx="9428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adatbázis mint már említett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MariaDB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-vel íródott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adatgyüjtő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backend segítségével az adatbázis előre megtervezett módon tárolja az adatokat, emellett biztonsági intézkedésekkel is el lett látva, mint például jelszó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hashelés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(titkosítás).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7FFD960D-4596-C86E-C611-36BA2D4A447C}"/>
              </a:ext>
            </a:extLst>
          </p:cNvPr>
          <p:cNvSpPr txBox="1"/>
          <p:nvPr/>
        </p:nvSpPr>
        <p:spPr>
          <a:xfrm>
            <a:off x="1596788" y="44123429"/>
            <a:ext cx="910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832560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95C3-4524-7F55-EBBA-85A25894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9449B2CA-2117-C78C-72FE-CFB41E266976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A1DBE306-FEED-B5CF-D437-2830224B3DBA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B804CCAE-5561-4D39-10CE-241D9A208268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80C15A18-D149-A158-05DA-A4F0AF0E0B37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C4C517C8-D253-FE55-DD4F-95E947BC7673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AE17F61D-9927-B66D-2F3C-1261E6899BD2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94EB7E5A-DCA4-9F46-4115-F73F1F403548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CC0185BA-74A0-04F0-B039-3308D59CBB7F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4530A78A-CB78-593E-66D8-79E54A8B00A2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B0692232-8A0F-49BB-BC81-2CBDB5A839DB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626A1412-6E2F-AA01-DF3B-E51D2C14EC01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508DDA0E-F6BE-EDD5-F280-7165CFD400E9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CD8F1907-62C1-BDE8-1EB8-B069B8B71653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A02D6EE1-9AF7-805E-0E49-FA7CAF33BE56}"/>
              </a:ext>
            </a:extLst>
          </p:cNvPr>
          <p:cNvGrpSpPr/>
          <p:nvPr/>
        </p:nvGrpSpPr>
        <p:grpSpPr>
          <a:xfrm>
            <a:off x="788782" y="845137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B577C26C-4717-C5B0-121D-141FD106F6B9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EAEFB0D4-2E0D-0380-FE43-348D4B22B0DC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699C7E1A-C856-E1F9-DD70-E3CD489D20F6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E5E84915-8559-FB9D-4A66-AE0B98FA16CB}"/>
              </a:ext>
            </a:extLst>
          </p:cNvPr>
          <p:cNvGrpSpPr/>
          <p:nvPr/>
        </p:nvGrpSpPr>
        <p:grpSpPr>
          <a:xfrm>
            <a:off x="1017943" y="17988193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5D28FE29-4CCD-1941-C0F1-31F6331AEA44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6FAB34A0-BF34-8AA2-590D-8861D4122659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FB0202AE-5A8F-1B55-3A84-4D31ABD45EFA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FA6CF61A-18F1-528D-CEC2-13EFDB1807EF}"/>
              </a:ext>
            </a:extLst>
          </p:cNvPr>
          <p:cNvGrpSpPr/>
          <p:nvPr/>
        </p:nvGrpSpPr>
        <p:grpSpPr>
          <a:xfrm>
            <a:off x="1017943" y="21604701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0BBCA518-DEC0-3753-DC28-8BC6E973D95E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C6ED8238-16A9-3104-F457-9BC0B9862090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8C90D72E-9AEB-B9A2-30E5-EB09BCD6A49C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9D8BDE93-EE62-E06B-9942-F14763912175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E0A5A425-E020-19BF-0098-466DFBA4117A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C85616E3-56BC-9B15-C769-8166CA0A845D}"/>
              </a:ext>
            </a:extLst>
          </p:cNvPr>
          <p:cNvSpPr/>
          <p:nvPr/>
        </p:nvSpPr>
        <p:spPr>
          <a:xfrm>
            <a:off x="945155" y="28972640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E2140296-AB47-78B7-9B33-CE52A813F8A8}"/>
              </a:ext>
            </a:extLst>
          </p:cNvPr>
          <p:cNvSpPr/>
          <p:nvPr/>
        </p:nvSpPr>
        <p:spPr>
          <a:xfrm>
            <a:off x="945155" y="32670592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E89884AB-28A9-666E-4313-048A84A131D0}"/>
              </a:ext>
            </a:extLst>
          </p:cNvPr>
          <p:cNvSpPr/>
          <p:nvPr/>
        </p:nvSpPr>
        <p:spPr>
          <a:xfrm>
            <a:off x="938027" y="363685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4AC38F95-EA3D-24EF-0E31-D7DDE3916D1A}"/>
              </a:ext>
            </a:extLst>
          </p:cNvPr>
          <p:cNvSpPr/>
          <p:nvPr/>
        </p:nvSpPr>
        <p:spPr>
          <a:xfrm>
            <a:off x="938027" y="40010943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E0EDAB59-9266-1618-12B5-99811B04B9DF}"/>
              </a:ext>
            </a:extLst>
          </p:cNvPr>
          <p:cNvSpPr/>
          <p:nvPr/>
        </p:nvSpPr>
        <p:spPr>
          <a:xfrm>
            <a:off x="1017943" y="437549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C81B5779-FA54-2BE5-2222-A5A29B24B92E}"/>
              </a:ext>
            </a:extLst>
          </p:cNvPr>
          <p:cNvGrpSpPr/>
          <p:nvPr/>
        </p:nvGrpSpPr>
        <p:grpSpPr>
          <a:xfrm>
            <a:off x="945155" y="2533024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FFB53E95-B818-08BE-62CD-9A6126C2F3E0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33A80D59-7EFD-FC3F-3FF4-8AE6C8E4A37B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D672F44F-D72D-D6F1-E604-675F235FF978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sp>
        <p:nvSpPr>
          <p:cNvPr id="48" name="Szövegdoboz 47">
            <a:extLst>
              <a:ext uri="{FF2B5EF4-FFF2-40B4-BE49-F238E27FC236}">
                <a16:creationId xmlns:a16="http://schemas.microsoft.com/office/drawing/2014/main" id="{4BE9ECE8-67F0-692B-97F7-235CBCE8B5F2}"/>
              </a:ext>
            </a:extLst>
          </p:cNvPr>
          <p:cNvSpPr txBox="1"/>
          <p:nvPr/>
        </p:nvSpPr>
        <p:spPr>
          <a:xfrm>
            <a:off x="1458340" y="29478514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Bövebben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felhasználói oldalról: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A2B7E1B4-88B2-16C0-6324-46FB29120EC4}"/>
              </a:ext>
            </a:extLst>
          </p:cNvPr>
          <p:cNvSpPr txBox="1"/>
          <p:nvPr/>
        </p:nvSpPr>
        <p:spPr>
          <a:xfrm>
            <a:off x="1596788" y="30299815"/>
            <a:ext cx="9103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felhasználói oldal mint említettem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-ban íródott, mely letisztult, egyszerű és kezelhető felületet biztosít a felhasználók részére. Emellett az átláthatóságra is lett fordítva idő.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DFF098C2-27E6-8B5E-6651-7EA4623B809A}"/>
              </a:ext>
            </a:extLst>
          </p:cNvPr>
          <p:cNvSpPr txBox="1"/>
          <p:nvPr/>
        </p:nvSpPr>
        <p:spPr>
          <a:xfrm>
            <a:off x="1378424" y="32985989"/>
            <a:ext cx="966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WPF oldalról: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E5DACF7E-4404-AAE5-2067-71D42EEF06E6}"/>
              </a:ext>
            </a:extLst>
          </p:cNvPr>
          <p:cNvSpPr txBox="1"/>
          <p:nvPr/>
        </p:nvSpPr>
        <p:spPr>
          <a:xfrm>
            <a:off x="1305636" y="33829557"/>
            <a:ext cx="973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WPF (azaz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oldal egy letisztult és egyszerűen kezelhető felületet biztosít az oldal üzemeltetőinek, mely segít abban, hogy egy moderált közösséget lehessen építeni a PM projekt weboldalán.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F17FC6DA-587A-97AB-6E39-E93836532E2B}"/>
              </a:ext>
            </a:extLst>
          </p:cNvPr>
          <p:cNvSpPr txBox="1"/>
          <p:nvPr/>
        </p:nvSpPr>
        <p:spPr>
          <a:xfrm>
            <a:off x="1312764" y="36634057"/>
            <a:ext cx="9646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oldalról: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BDB9591F-C419-854D-C9AF-2381A7AAA985}"/>
              </a:ext>
            </a:extLst>
          </p:cNvPr>
          <p:cNvSpPr txBox="1"/>
          <p:nvPr/>
        </p:nvSpPr>
        <p:spPr>
          <a:xfrm>
            <a:off x="1378424" y="37426120"/>
            <a:ext cx="96606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 egy letisztult, érthető kommunikációt biztosít az adatbázis és a frontend programrészek között, mellyel lehetővé teszi azok rendeltetés szerű használatát mint a felhasználóknak, mint az üzemeltetőknek.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5CCA2BA6-5258-7124-262C-24A7846DBE28}"/>
              </a:ext>
            </a:extLst>
          </p:cNvPr>
          <p:cNvSpPr txBox="1"/>
          <p:nvPr/>
        </p:nvSpPr>
        <p:spPr>
          <a:xfrm>
            <a:off x="1378424" y="40291657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az adatbázisról: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D73EE4C8-42C0-9FCD-9915-CA665975D5B8}"/>
              </a:ext>
            </a:extLst>
          </p:cNvPr>
          <p:cNvSpPr txBox="1"/>
          <p:nvPr/>
        </p:nvSpPr>
        <p:spPr>
          <a:xfrm>
            <a:off x="1458340" y="41157146"/>
            <a:ext cx="9428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adatbázis mint már említett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MariaDB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-vel íródott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adatgyüjtő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backend segítségével az adatbázis előre megtervezett módon tárolja az adatokat, emellett biztonsági intézkedésekkel is el lett látva, mint például jelszó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hashelés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(titkosítás).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03F58751-05BA-87A4-5A55-7DE1D1EBFF3F}"/>
              </a:ext>
            </a:extLst>
          </p:cNvPr>
          <p:cNvSpPr txBox="1"/>
          <p:nvPr/>
        </p:nvSpPr>
        <p:spPr>
          <a:xfrm>
            <a:off x="1596788" y="44123429"/>
            <a:ext cx="910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217711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42E7-C0BE-2388-B394-65E2B176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A93B4907-E88E-B16A-18EE-94D7D53F0D82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8BBC4ECD-D1EC-3F5A-18C5-992A3D046EC6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72F2B2B3-FA4A-94CB-DCDC-FA47C078E04D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E96BBD1-8D37-78A2-E92E-FBDA03136139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F52EC4FB-296D-0ED9-A68D-19370B74F180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8DA9998D-904B-85E9-535E-7BA618860D9F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90E639E5-5979-34A6-982E-15CEBE6119F3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CC1EB151-9DFB-FD3D-80D6-F8CC0B8A00A3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557D6881-0F3F-B0F1-309E-B53DFE31CED4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10E468F5-1EE0-B9F8-51A7-2AF7DF673742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286D1B69-5DD6-FEE3-30D7-2DEC6F7B10CC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4B75473E-344C-A3E3-3FEC-241D66EA3763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3221DF68-7AB0-F36F-9EA4-A4DC5C4C1CC1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471BB10D-EDB4-098C-E817-16A6CC26DE0B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6F44AF1D-A44E-ECFF-E0B4-70595DD63E08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C397ED49-9480-BEDD-0042-7F3373654E74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DC35F68B-6099-C69B-BF7F-A8E1F3FDF69B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040FF3AC-06A8-133F-BE4B-8EBB2F83372F}"/>
              </a:ext>
            </a:extLst>
          </p:cNvPr>
          <p:cNvGrpSpPr/>
          <p:nvPr/>
        </p:nvGrpSpPr>
        <p:grpSpPr>
          <a:xfrm>
            <a:off x="788782" y="812742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D0375C9D-F2F3-A43B-10E8-4EA379EB4179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4612612A-99ED-DF2D-65CD-7A57CA4D7B56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8606D593-9433-9505-3C97-4FA5479AB6A2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C673E0E1-C0BE-80EC-AA7E-497CF6712B41}"/>
              </a:ext>
            </a:extLst>
          </p:cNvPr>
          <p:cNvGrpSpPr/>
          <p:nvPr/>
        </p:nvGrpSpPr>
        <p:grpSpPr>
          <a:xfrm>
            <a:off x="595472" y="9743978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4D51DAD0-E53D-B07E-E903-048C9BC3AD86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0D9AEEFD-1FC7-4ABB-FAD8-61A16E5F740E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C5C93826-E1A6-0F74-F73E-6F6974D4C6C7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22A9767C-BF42-332B-FA79-9213855E0780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1C02CA8E-E245-4C17-7F5D-8FC55D777ECB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85F90B85-23EE-FBE8-80A8-7ED537A29DF1}"/>
              </a:ext>
            </a:extLst>
          </p:cNvPr>
          <p:cNvGrpSpPr/>
          <p:nvPr/>
        </p:nvGrpSpPr>
        <p:grpSpPr>
          <a:xfrm>
            <a:off x="639537" y="15167739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9AEEBA49-20F6-B5D1-73C3-F2743964D895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D3418E65-3D87-EE10-9F92-CB4CB2A2E83D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F3A1B2E0-0260-68E1-ED8A-488E626C0054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64" name="Csoportba foglalás 63">
            <a:extLst>
              <a:ext uri="{FF2B5EF4-FFF2-40B4-BE49-F238E27FC236}">
                <a16:creationId xmlns:a16="http://schemas.microsoft.com/office/drawing/2014/main" id="{51415B61-95CB-A847-94B5-2B5AC18C8303}"/>
              </a:ext>
            </a:extLst>
          </p:cNvPr>
          <p:cNvGrpSpPr/>
          <p:nvPr/>
        </p:nvGrpSpPr>
        <p:grpSpPr>
          <a:xfrm>
            <a:off x="577546" y="19671078"/>
            <a:ext cx="10461522" cy="3507475"/>
            <a:chOff x="945155" y="28972640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5522F6D7-8EBE-7A0B-FA6B-7BF2286FE0A6}"/>
                </a:ext>
              </a:extLst>
            </p:cNvPr>
            <p:cNvSpPr/>
            <p:nvPr/>
          </p:nvSpPr>
          <p:spPr>
            <a:xfrm>
              <a:off x="945155" y="2897264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3" name="Csoportba foglalás 62">
              <a:extLst>
                <a:ext uri="{FF2B5EF4-FFF2-40B4-BE49-F238E27FC236}">
                  <a16:creationId xmlns:a16="http://schemas.microsoft.com/office/drawing/2014/main" id="{73BCF5EA-7351-496B-7AD8-AAE8B5932307}"/>
                </a:ext>
              </a:extLst>
            </p:cNvPr>
            <p:cNvGrpSpPr/>
            <p:nvPr/>
          </p:nvGrpSpPr>
          <p:grpSpPr>
            <a:xfrm>
              <a:off x="1818821" y="29536450"/>
              <a:ext cx="9580728" cy="2021630"/>
              <a:chOff x="1458340" y="29478514"/>
              <a:chExt cx="9580728" cy="2021630"/>
            </a:xfrm>
          </p:grpSpPr>
          <p:sp>
            <p:nvSpPr>
              <p:cNvPr id="48" name="Szövegdoboz 47">
                <a:extLst>
                  <a:ext uri="{FF2B5EF4-FFF2-40B4-BE49-F238E27FC236}">
                    <a16:creationId xmlns:a16="http://schemas.microsoft.com/office/drawing/2014/main" id="{EDA96184-06AC-1E07-FD07-AFA984FCAC13}"/>
                  </a:ext>
                </a:extLst>
              </p:cNvPr>
              <p:cNvSpPr txBox="1"/>
              <p:nvPr/>
            </p:nvSpPr>
            <p:spPr>
              <a:xfrm>
                <a:off x="1458340" y="29478514"/>
                <a:ext cx="95807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Bövebben</a:t>
                </a:r>
                <a:r>
                  <a:rPr lang="hu-HU" sz="3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felhasználói oldalról:</a:t>
                </a:r>
              </a:p>
            </p:txBody>
          </p:sp>
          <p:sp>
            <p:nvSpPr>
              <p:cNvPr id="49" name="Szövegdoboz 48">
                <a:extLst>
                  <a:ext uri="{FF2B5EF4-FFF2-40B4-BE49-F238E27FC236}">
                    <a16:creationId xmlns:a16="http://schemas.microsoft.com/office/drawing/2014/main" id="{FA1818A6-BB21-83C0-9006-2344B789ECD3}"/>
                  </a:ext>
                </a:extLst>
              </p:cNvPr>
              <p:cNvSpPr txBox="1"/>
              <p:nvPr/>
            </p:nvSpPr>
            <p:spPr>
              <a:xfrm>
                <a:off x="1596788" y="30299815"/>
                <a:ext cx="91030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felhasználói oldal mint említettem </a:t>
                </a:r>
                <a:r>
                  <a:rPr lang="hu-HU" sz="2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React</a:t>
                </a: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-ban íródott, mely letisztult, egyszerű és kezelhető felületet biztosít a felhasználók részére. Emellett az átláthatóságra is lett fordítva idő.</a:t>
                </a:r>
              </a:p>
            </p:txBody>
          </p:sp>
        </p:grpSp>
      </p:grpSp>
      <p:grpSp>
        <p:nvGrpSpPr>
          <p:cNvPr id="65" name="Csoportba foglalás 64">
            <a:extLst>
              <a:ext uri="{FF2B5EF4-FFF2-40B4-BE49-F238E27FC236}">
                <a16:creationId xmlns:a16="http://schemas.microsoft.com/office/drawing/2014/main" id="{D2F8648F-E67F-BF7D-DB93-562BD75A676A}"/>
              </a:ext>
            </a:extLst>
          </p:cNvPr>
          <p:cNvGrpSpPr/>
          <p:nvPr/>
        </p:nvGrpSpPr>
        <p:grpSpPr>
          <a:xfrm>
            <a:off x="639537" y="23769264"/>
            <a:ext cx="10461522" cy="3507475"/>
            <a:chOff x="938027" y="32491479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332A4C90-B1BE-46BD-B0E7-12837307F1E5}"/>
                </a:ext>
              </a:extLst>
            </p:cNvPr>
            <p:cNvSpPr/>
            <p:nvPr/>
          </p:nvSpPr>
          <p:spPr>
            <a:xfrm>
              <a:off x="938027" y="3249147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C411FCBA-798A-FF54-2130-3E7DCA3FCDE1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BF594356-3EC7-EFA7-C389-7F02A5FA53B4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66" name="Csoportba foglalás 65">
            <a:extLst>
              <a:ext uri="{FF2B5EF4-FFF2-40B4-BE49-F238E27FC236}">
                <a16:creationId xmlns:a16="http://schemas.microsoft.com/office/drawing/2014/main" id="{BE08F592-10D8-155A-5475-BC6D4F0A4E77}"/>
              </a:ext>
            </a:extLst>
          </p:cNvPr>
          <p:cNvGrpSpPr/>
          <p:nvPr/>
        </p:nvGrpSpPr>
        <p:grpSpPr>
          <a:xfrm>
            <a:off x="1291170" y="28477995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FE3FD4BB-404E-46B9-0964-91115A59D43F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475F1905-0A1E-D6E2-E56B-0AED818E8387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1D844004-18ED-9FAB-BD89-76830F4EB31E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67" name="Csoportba foglalás 66">
            <a:extLst>
              <a:ext uri="{FF2B5EF4-FFF2-40B4-BE49-F238E27FC236}">
                <a16:creationId xmlns:a16="http://schemas.microsoft.com/office/drawing/2014/main" id="{AE5D75CB-F3BB-907C-8EA2-583AE88CAA11}"/>
              </a:ext>
            </a:extLst>
          </p:cNvPr>
          <p:cNvGrpSpPr/>
          <p:nvPr/>
        </p:nvGrpSpPr>
        <p:grpSpPr>
          <a:xfrm>
            <a:off x="1451211" y="32602977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BAD4DD8D-E718-7C01-AF42-D384D5C85C80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A9CA3E61-8917-1C1A-8688-C590087630BA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544F362E-F4EA-75E9-5F59-3629D60E79BC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68" name="Csoportba foglalás 67">
            <a:extLst>
              <a:ext uri="{FF2B5EF4-FFF2-40B4-BE49-F238E27FC236}">
                <a16:creationId xmlns:a16="http://schemas.microsoft.com/office/drawing/2014/main" id="{45280834-3404-C41F-A734-26D2C46532C5}"/>
              </a:ext>
            </a:extLst>
          </p:cNvPr>
          <p:cNvGrpSpPr/>
          <p:nvPr/>
        </p:nvGrpSpPr>
        <p:grpSpPr>
          <a:xfrm>
            <a:off x="1451211" y="36727959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795A6FB6-8151-A819-ED0C-53C72B94B3C9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42E26CD3-AFD8-4021-743A-0311EDEB9599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0043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0BF3-01C0-EA34-BE8C-AB2A0792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CCC13614-B261-22ED-8BBA-B84B87A082D4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D31F9120-D490-4FB2-AAC5-76BDA457A6A2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AEDBD1C3-B4A8-224E-E736-6247613B8462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B48F4A98-4C93-F674-6E3E-D368E01FE1B2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72DBBA81-0EDC-49EB-B650-917F1E512FD5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A007CD5A-E7CD-EF60-ED40-BC60406E82B6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00AAC912-BB35-4947-1A5E-0154C7E20316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07EE230C-B0C1-6649-ED5C-9F098B2CFAF1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30F5B544-F892-28CB-4910-F0A3A4D82DCD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BD41B33A-551C-AD6D-0CEE-7ACEDF7B20A0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88F47B37-7171-D024-FD8C-6147F3AFFD75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0930C0C9-F89E-AECE-F0B4-F4342844FA5B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6316BBEB-BB33-C33F-A313-C532F14E5571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C1E8870-822A-862D-BE11-1C4909005FAA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E97DE560-15B1-DEF4-4F6B-E07E486065D1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165D496E-3A7A-60D8-D0B8-29BE24F0CC38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54DE4320-4F7B-B51D-8879-385F5DAF9A5A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0D480909-EAF8-F918-07B5-3EDB0060BCAD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D21AA5AC-2836-F9A0-131F-7F6923290788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A2C03337-B9BA-36CA-46D3-93F21CC66632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AB5B9B5D-0AF9-57F4-2526-3795A8573E25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51C7775B-659A-D2A4-746E-29D81B3C066A}"/>
              </a:ext>
            </a:extLst>
          </p:cNvPr>
          <p:cNvGrpSpPr/>
          <p:nvPr/>
        </p:nvGrpSpPr>
        <p:grpSpPr>
          <a:xfrm>
            <a:off x="788782" y="97740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0C705C24-8955-95F6-4F1B-3473F3431AA4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17420319-422B-DFB8-3F91-3E8E4A02D39D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86256D69-BEF1-2295-21DD-03F65BCFA2DA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44927685-8857-E773-4ED4-77572C086DE4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89C08263-B9EE-029B-94CC-603B47B786E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47729048"/>
                </p:ext>
              </p:extLst>
            </p:nvPr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40" name="Téglalap: lekerekített 39">
            <a:extLst>
              <a:ext uri="{FF2B5EF4-FFF2-40B4-BE49-F238E27FC236}">
                <a16:creationId xmlns:a16="http://schemas.microsoft.com/office/drawing/2014/main" id="{8F882173-218B-8955-F7A0-51C303A1CEF2}"/>
              </a:ext>
            </a:extLst>
          </p:cNvPr>
          <p:cNvSpPr/>
          <p:nvPr/>
        </p:nvSpPr>
        <p:spPr>
          <a:xfrm>
            <a:off x="945155" y="28972640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: lekerekített 40">
            <a:extLst>
              <a:ext uri="{FF2B5EF4-FFF2-40B4-BE49-F238E27FC236}">
                <a16:creationId xmlns:a16="http://schemas.microsoft.com/office/drawing/2014/main" id="{C97BD704-6E1C-864A-581F-9F4953A9FED6}"/>
              </a:ext>
            </a:extLst>
          </p:cNvPr>
          <p:cNvSpPr/>
          <p:nvPr/>
        </p:nvSpPr>
        <p:spPr>
          <a:xfrm>
            <a:off x="945155" y="32670592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: lekerekített 41">
            <a:extLst>
              <a:ext uri="{FF2B5EF4-FFF2-40B4-BE49-F238E27FC236}">
                <a16:creationId xmlns:a16="http://schemas.microsoft.com/office/drawing/2014/main" id="{5496AB4A-DB2A-565E-10DC-A63B97DC2970}"/>
              </a:ext>
            </a:extLst>
          </p:cNvPr>
          <p:cNvSpPr/>
          <p:nvPr/>
        </p:nvSpPr>
        <p:spPr>
          <a:xfrm>
            <a:off x="938027" y="363685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: lekerekített 42">
            <a:extLst>
              <a:ext uri="{FF2B5EF4-FFF2-40B4-BE49-F238E27FC236}">
                <a16:creationId xmlns:a16="http://schemas.microsoft.com/office/drawing/2014/main" id="{8E950AB2-99C5-6A40-33A1-C4354B06DD1C}"/>
              </a:ext>
            </a:extLst>
          </p:cNvPr>
          <p:cNvSpPr/>
          <p:nvPr/>
        </p:nvSpPr>
        <p:spPr>
          <a:xfrm>
            <a:off x="938027" y="40010943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: lekerekített 43">
            <a:extLst>
              <a:ext uri="{FF2B5EF4-FFF2-40B4-BE49-F238E27FC236}">
                <a16:creationId xmlns:a16="http://schemas.microsoft.com/office/drawing/2014/main" id="{E1092713-7311-2C5F-CF17-1D5B54ED5BA7}"/>
              </a:ext>
            </a:extLst>
          </p:cNvPr>
          <p:cNvSpPr/>
          <p:nvPr/>
        </p:nvSpPr>
        <p:spPr>
          <a:xfrm>
            <a:off x="1017943" y="43754944"/>
            <a:ext cx="10461522" cy="3507475"/>
          </a:xfrm>
          <a:prstGeom prst="roundRect">
            <a:avLst/>
          </a:prstGeom>
          <a:solidFill>
            <a:srgbClr val="54616C"/>
          </a:solidFill>
          <a:effectLst>
            <a:outerShdw blurRad="406400" dist="38100" dir="2700000" sx="103000" sy="103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CC1B98D9-7CF7-E0BF-8121-882F6E4087AD}"/>
              </a:ext>
            </a:extLst>
          </p:cNvPr>
          <p:cNvGrpSpPr/>
          <p:nvPr/>
        </p:nvGrpSpPr>
        <p:grpSpPr>
          <a:xfrm>
            <a:off x="945155" y="2533024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21972AB5-424F-C05F-4267-BD913A4EDC17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6B4DDB7B-5C82-91F1-62BD-BA1F87D79F66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834B41BE-5450-CBE4-C809-DA63CEB4F281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sp>
        <p:nvSpPr>
          <p:cNvPr id="48" name="Szövegdoboz 47">
            <a:extLst>
              <a:ext uri="{FF2B5EF4-FFF2-40B4-BE49-F238E27FC236}">
                <a16:creationId xmlns:a16="http://schemas.microsoft.com/office/drawing/2014/main" id="{F3DA425D-D91A-FFC3-2E47-7299C0E55FAE}"/>
              </a:ext>
            </a:extLst>
          </p:cNvPr>
          <p:cNvSpPr txBox="1"/>
          <p:nvPr/>
        </p:nvSpPr>
        <p:spPr>
          <a:xfrm>
            <a:off x="1458340" y="29478514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Bövebben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felhasználói oldalról: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016A3DC9-2311-F492-0FA3-B64BDDD6060A}"/>
              </a:ext>
            </a:extLst>
          </p:cNvPr>
          <p:cNvSpPr txBox="1"/>
          <p:nvPr/>
        </p:nvSpPr>
        <p:spPr>
          <a:xfrm>
            <a:off x="1596788" y="30299815"/>
            <a:ext cx="9103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felhasználói oldal mint említettem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-ban íródott, mely letisztult, egyszerű és kezelhető felületet biztosít a felhasználók részére. Emellett az átláthatóságra is lett fordítva idő.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C7AD60B7-2C6F-EA4B-B1C2-F7E4440BB3BD}"/>
              </a:ext>
            </a:extLst>
          </p:cNvPr>
          <p:cNvSpPr txBox="1"/>
          <p:nvPr/>
        </p:nvSpPr>
        <p:spPr>
          <a:xfrm>
            <a:off x="1378424" y="32985989"/>
            <a:ext cx="966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WPF oldalról: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BF846AB5-80BC-2DD8-8CAC-DF5E9B4603E7}"/>
              </a:ext>
            </a:extLst>
          </p:cNvPr>
          <p:cNvSpPr txBox="1"/>
          <p:nvPr/>
        </p:nvSpPr>
        <p:spPr>
          <a:xfrm>
            <a:off x="1305636" y="33829557"/>
            <a:ext cx="973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WPF (azaz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oldal egy letisztult és egyszerűen kezelhető felületet biztosít az oldal üzemeltetőinek, mely segít abban, hogy egy moderált közösséget lehessen építeni a PM projekt weboldalán.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CB405E8D-54E5-E561-3934-3DE74E0D2FF9}"/>
              </a:ext>
            </a:extLst>
          </p:cNvPr>
          <p:cNvSpPr txBox="1"/>
          <p:nvPr/>
        </p:nvSpPr>
        <p:spPr>
          <a:xfrm>
            <a:off x="1312764" y="36634057"/>
            <a:ext cx="9646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 </a:t>
            </a:r>
            <a:r>
              <a:rPr lang="hu-HU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oldalról: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6F2D8443-31A8-AF3D-E1F3-625B22983679}"/>
              </a:ext>
            </a:extLst>
          </p:cNvPr>
          <p:cNvSpPr txBox="1"/>
          <p:nvPr/>
        </p:nvSpPr>
        <p:spPr>
          <a:xfrm>
            <a:off x="1378424" y="37426120"/>
            <a:ext cx="96606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oldal egy letisztult, érthető kommunikációt biztosít az adatbázis és a frontend programrészek között, mellyel lehetővé teszi azok rendeltetés szerű használatát mint a felhasználóknak, mint az üzemeltetőknek.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C39AD4F8-72C9-6868-327C-9E10E8393306}"/>
              </a:ext>
            </a:extLst>
          </p:cNvPr>
          <p:cNvSpPr txBox="1"/>
          <p:nvPr/>
        </p:nvSpPr>
        <p:spPr>
          <a:xfrm>
            <a:off x="1378424" y="40291657"/>
            <a:ext cx="958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Bővebben az adatbázisról: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7C7132A0-7216-1836-9F92-D34F24BCD708}"/>
              </a:ext>
            </a:extLst>
          </p:cNvPr>
          <p:cNvSpPr txBox="1"/>
          <p:nvPr/>
        </p:nvSpPr>
        <p:spPr>
          <a:xfrm>
            <a:off x="1458340" y="41157146"/>
            <a:ext cx="9428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adatbázis mint már említett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MariaDB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-vel íródott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adatgyüjtő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backend segítségével az adatbázis előre megtervezett módon tárolja az adatokat, emellett biztonsági intézkedésekkel is el lett látva, mint például jelszó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hashelés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(titkosítás).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43202F43-121D-A918-DD25-4E00563346C0}"/>
              </a:ext>
            </a:extLst>
          </p:cNvPr>
          <p:cNvSpPr txBox="1"/>
          <p:nvPr/>
        </p:nvSpPr>
        <p:spPr>
          <a:xfrm>
            <a:off x="1596788" y="44123429"/>
            <a:ext cx="910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426192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7700-0769-EB81-B78A-A7236A5B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CEBCB160-61B2-A177-2141-951A069AFCF3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F30EC217-CE3C-7563-554E-F54B35A98331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33538CF9-4CD6-E9D7-5348-1E61DD6F4322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8E1846C7-07AA-1207-B9FA-471FE9FE427F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A5D51A84-BF4D-7823-F7B2-FD684B0A5040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4F287F6D-0A9B-5AC7-2E47-3C9ED9C073EA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2CBB71CF-ECFA-1A27-A289-05B072D7D75A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35B2DF54-4D93-8CE6-A930-E0D931DDC7E3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1A7585DD-8FEF-C6BA-35CC-0578BF73C893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D5D7FD8E-B872-69D0-5E32-BA29FD6ED2E9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0BC2F2F1-8C8D-07BD-9E54-DE6593437A78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4B75154C-CC94-5803-8866-08E4FC6CE7C5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5159C74D-69F0-D8E4-51AA-D3EDEB6FCF22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8069888C-9B90-B075-D256-0EBF5CA78404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004B60D5-6710-2497-9C72-E588DD6E1DE7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75FEFF68-C7D9-F4B4-6F28-F8846775CAAD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841548DB-1F51-BF2A-224E-29F9C0EEF53B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E969DAC7-B1AD-2842-330D-93D53A7AFDFE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C92E2BEE-A893-B13D-0A57-8BD17BFA4641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9D796A95-1308-7A87-0497-8EAC20F631DD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38DC0622-8B85-C2BB-B00B-BF79BA9CE162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B84D2E27-0EAC-E3D4-0305-776DFC57F1CE}"/>
              </a:ext>
            </a:extLst>
          </p:cNvPr>
          <p:cNvGrpSpPr/>
          <p:nvPr/>
        </p:nvGrpSpPr>
        <p:grpSpPr>
          <a:xfrm>
            <a:off x="480722" y="-984464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F670DF18-9675-23E5-0006-ABBE1E412E0D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AA27D2CC-83FA-E09E-9E86-29CCB06B3BBB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F5DCD5AC-5B09-2051-EA32-AB8F9C170635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AFD4B7A2-31F1-1550-F16C-C81FE3259F3B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6C86314F-9AD4-9A80-62AB-FCD00DF7E11D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E0EE3030-87B6-E5C4-DC28-DA3E2B3D814D}"/>
              </a:ext>
            </a:extLst>
          </p:cNvPr>
          <p:cNvGrpSpPr/>
          <p:nvPr/>
        </p:nvGrpSpPr>
        <p:grpSpPr>
          <a:xfrm>
            <a:off x="674634" y="850228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0A778B58-FDF0-AEEE-FA72-754F1FAD7AC0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C92E6FBE-0F09-1845-3FA7-CE81F58F84FF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F9EDFD3A-41B7-5CAB-DEB7-E4B40315EC82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50957113-E919-A500-9398-A05F840A3F54}"/>
              </a:ext>
            </a:extLst>
          </p:cNvPr>
          <p:cNvGrpSpPr/>
          <p:nvPr/>
        </p:nvGrpSpPr>
        <p:grpSpPr>
          <a:xfrm>
            <a:off x="1079934" y="17908516"/>
            <a:ext cx="10461522" cy="3507475"/>
            <a:chOff x="1094198" y="28634329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6F4DD252-A958-9447-3B8E-7963EE238DD4}"/>
                </a:ext>
              </a:extLst>
            </p:cNvPr>
            <p:cNvSpPr/>
            <p:nvPr/>
          </p:nvSpPr>
          <p:spPr>
            <a:xfrm>
              <a:off x="1094198" y="2863432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A2BF84A2-7080-E568-32F0-9B12DBAB5613}"/>
                </a:ext>
              </a:extLst>
            </p:cNvPr>
            <p:cNvSpPr txBox="1"/>
            <p:nvPr/>
          </p:nvSpPr>
          <p:spPr>
            <a:xfrm>
              <a:off x="1458340" y="29478514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Bövebben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felhasználói oldalról:</a:t>
              </a: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AB4A1FA5-E5E8-5738-286C-5E6A5519F130}"/>
                </a:ext>
              </a:extLst>
            </p:cNvPr>
            <p:cNvSpPr txBox="1"/>
            <p:nvPr/>
          </p:nvSpPr>
          <p:spPr>
            <a:xfrm>
              <a:off x="1596788" y="30299815"/>
              <a:ext cx="91030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felhasználói oldal mint említettem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letisztult, egyszerű és kezelhető felületet biztosít a felhasználók részére. Emellett az átláthatóságra is lett fordítva idő.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7170D27C-4CC7-BCAF-4006-071F332005B8}"/>
              </a:ext>
            </a:extLst>
          </p:cNvPr>
          <p:cNvGrpSpPr/>
          <p:nvPr/>
        </p:nvGrpSpPr>
        <p:grpSpPr>
          <a:xfrm>
            <a:off x="1374755" y="22796117"/>
            <a:ext cx="10461522" cy="3507475"/>
            <a:chOff x="945155" y="32670592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73AE386F-DCB7-8DC8-D8AA-87D3C20E54C9}"/>
                </a:ext>
              </a:extLst>
            </p:cNvPr>
            <p:cNvSpPr/>
            <p:nvPr/>
          </p:nvSpPr>
          <p:spPr>
            <a:xfrm>
              <a:off x="945155" y="32670592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BA8E7949-E61F-0104-3795-E80197BB6D5D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5628D5CB-2690-70E2-0CFA-D3942BD262D5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682188CD-E158-D632-220F-29C1A3E30BF3}"/>
              </a:ext>
            </a:extLst>
          </p:cNvPr>
          <p:cNvGrpSpPr/>
          <p:nvPr/>
        </p:nvGrpSpPr>
        <p:grpSpPr>
          <a:xfrm>
            <a:off x="1367627" y="26494069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C3AC3A43-BC28-2F49-9F3D-A74585E7B099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B166F379-16C6-0993-5DE8-EC83D7273202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9F77910C-62D2-8B4F-6F7C-C9A3A5D47DB1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30B75AA4-4DC3-9720-6048-8AC0CB3239E7}"/>
              </a:ext>
            </a:extLst>
          </p:cNvPr>
          <p:cNvGrpSpPr/>
          <p:nvPr/>
        </p:nvGrpSpPr>
        <p:grpSpPr>
          <a:xfrm>
            <a:off x="1367627" y="30136468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08C3538F-3AF1-9C3B-C67A-8D1DD2E9E554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EDCDBDA4-A885-1A4F-A583-20B4E2FCE67A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20A4D53C-D444-C037-2020-EF189AF26645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B34D083B-3A62-6EF4-936C-163AA2B1E677}"/>
              </a:ext>
            </a:extLst>
          </p:cNvPr>
          <p:cNvGrpSpPr/>
          <p:nvPr/>
        </p:nvGrpSpPr>
        <p:grpSpPr>
          <a:xfrm>
            <a:off x="1447543" y="33880469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31C6362A-EA75-744B-A2AC-364E68DCC6B1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92C33C5D-68DC-84B1-0AE6-95FDE567EB45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5858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EF6D-38A4-77BF-056C-B131AC97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837E3D26-76CD-91F8-DD04-55C88DCFCCF9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2753CE85-12EC-AED7-F6E3-471D40C8CC62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B5A99623-5EAB-A6B8-6F53-E3C17245472F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478631DE-099B-C8A1-405F-EF51775336B0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6368D8D6-E8BF-725F-E88F-C2877732CDE2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D584BA81-A397-276C-D22C-3AC03E6BB7C7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FF101048-5758-AAF1-E277-39551E367791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9606B7BD-7E0C-B279-21C8-07BD13A6B24D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E17A0946-DECA-3568-5ABA-32C711B94511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1CBE1F44-DF27-FFB1-812D-7C422F4336C7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4F2F218B-F4B9-A47D-3DCD-1E78228B5838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53D31C49-4A99-C65C-DC1B-6178B2C27B9E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5AA1932C-6688-EF44-1DE2-E204641C1CC6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423FFC4A-851D-A0F8-C14E-4FB135D386CB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9104A586-559C-3844-5286-EA56158C0091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B05D0561-4701-A181-A09D-226299D834F4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20C20C85-BCDC-1310-189A-A71B867C292D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CB1E39DE-9695-7DA2-2E5D-FCB682005E32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0E60ED6A-B2D2-AE48-FED6-0EDAC71A0FFC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6C4B5170-9552-A9EE-27FE-E045B7D7BF5A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ECC31D9B-1519-1DA8-C270-AE94F53F992C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2804DCA6-3CA1-90FF-18B6-DC0C88A54398}"/>
              </a:ext>
            </a:extLst>
          </p:cNvPr>
          <p:cNvGrpSpPr/>
          <p:nvPr/>
        </p:nvGrpSpPr>
        <p:grpSpPr>
          <a:xfrm>
            <a:off x="480722" y="-984464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3399FAE9-9AA3-291C-ACC2-198E5368EC15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B5CD1CCC-B350-27E1-8F13-67F11ED47E08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D617487A-008D-BB09-07F9-1EB355D5396C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6F32B3CC-75F9-5300-87B5-249250A190A6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834EA9A0-7B8D-F61C-B6A8-3B9D85F75C9F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196931D8-00DE-B68B-070C-887024B2665D}"/>
              </a:ext>
            </a:extLst>
          </p:cNvPr>
          <p:cNvGrpSpPr/>
          <p:nvPr/>
        </p:nvGrpSpPr>
        <p:grpSpPr>
          <a:xfrm>
            <a:off x="549635" y="-1607152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AA2E91FC-3E4B-7F9A-9575-E0B8ED232257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870F5137-21F4-768B-CA96-22240026B31D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BE35C9AF-43C0-0DAC-3883-F78BCDE878DF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944C5F7D-14B0-40FE-F0B2-1450869DE5DA}"/>
              </a:ext>
            </a:extLst>
          </p:cNvPr>
          <p:cNvGrpSpPr/>
          <p:nvPr/>
        </p:nvGrpSpPr>
        <p:grpSpPr>
          <a:xfrm>
            <a:off x="954935" y="986767"/>
            <a:ext cx="10461522" cy="3507475"/>
            <a:chOff x="1094198" y="28634329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43A4EC53-CF29-F684-14EA-99891F805BB5}"/>
                </a:ext>
              </a:extLst>
            </p:cNvPr>
            <p:cNvSpPr/>
            <p:nvPr/>
          </p:nvSpPr>
          <p:spPr>
            <a:xfrm>
              <a:off x="1094198" y="2863432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B28E4396-448D-3FED-87C4-02DAABAD2A30}"/>
                </a:ext>
              </a:extLst>
            </p:cNvPr>
            <p:cNvSpPr txBox="1"/>
            <p:nvPr/>
          </p:nvSpPr>
          <p:spPr>
            <a:xfrm>
              <a:off x="1458340" y="29478514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Bövebben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felhasználói oldalról:</a:t>
              </a: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B67098CC-9C1C-4F14-E0DF-A447F98CA2B3}"/>
                </a:ext>
              </a:extLst>
            </p:cNvPr>
            <p:cNvSpPr txBox="1"/>
            <p:nvPr/>
          </p:nvSpPr>
          <p:spPr>
            <a:xfrm>
              <a:off x="1596788" y="30299815"/>
              <a:ext cx="91030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felhasználói oldal mint említettem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letisztult, egyszerű és kezelhető felületet biztosít a felhasználók részére. Emellett az átláthatóságra is lett fordítva idő.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B3BB79F6-1492-EBD4-976F-D69D7639ACF0}"/>
              </a:ext>
            </a:extLst>
          </p:cNvPr>
          <p:cNvGrpSpPr/>
          <p:nvPr/>
        </p:nvGrpSpPr>
        <p:grpSpPr>
          <a:xfrm>
            <a:off x="1374755" y="22796117"/>
            <a:ext cx="10461522" cy="3507475"/>
            <a:chOff x="945155" y="32670592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8DF54281-560B-B5DC-A314-E7AD663FAB20}"/>
                </a:ext>
              </a:extLst>
            </p:cNvPr>
            <p:cNvSpPr/>
            <p:nvPr/>
          </p:nvSpPr>
          <p:spPr>
            <a:xfrm>
              <a:off x="945155" y="32670592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75F9C5D1-81E4-D5C3-0691-AC39DE61A695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22D5971A-3383-9301-B41E-A937969A929A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8A245FAB-21B8-38FB-2867-0D8E46B238EC}"/>
              </a:ext>
            </a:extLst>
          </p:cNvPr>
          <p:cNvGrpSpPr/>
          <p:nvPr/>
        </p:nvGrpSpPr>
        <p:grpSpPr>
          <a:xfrm>
            <a:off x="1367627" y="26494069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8A077954-CEB9-E942-108E-53013C982296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25B90C4A-A094-068B-D0C8-714BBE1C19A1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D4DAD7EB-BFAA-3F40-804C-0B47751B0DAB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2A83FAF2-A7FC-B10F-3D45-6A25002EA6D8}"/>
              </a:ext>
            </a:extLst>
          </p:cNvPr>
          <p:cNvGrpSpPr/>
          <p:nvPr/>
        </p:nvGrpSpPr>
        <p:grpSpPr>
          <a:xfrm>
            <a:off x="1367627" y="30136468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EF8C3E82-4DBF-B57B-EC3A-010D50BDB9C6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3F0C4571-FE49-A196-B26A-255A25DD6439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1C04AE4E-AEDF-3451-EFC1-17907864B44F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36425CAE-A17D-F5AD-FFCC-E9D011024D79}"/>
              </a:ext>
            </a:extLst>
          </p:cNvPr>
          <p:cNvGrpSpPr/>
          <p:nvPr/>
        </p:nvGrpSpPr>
        <p:grpSpPr>
          <a:xfrm>
            <a:off x="1447543" y="33880469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C2B36D81-6BFE-432F-B347-DA92B72A19A1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CDB21BF7-F9CF-E853-D62D-49656FBE7E6E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7996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E1978-E426-0356-20D0-D299EC58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4E1F00A1-8F53-8D14-E3AD-931CDB5D2246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68B038F9-C3B8-430D-87D1-BBE6CB08448E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470C04B5-0BF2-8367-0C75-E4EAC7AC0A3B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5E8864FE-ADC7-6D49-1AD9-A74FDE99B888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D31AE7FC-CB0A-8A97-E3F0-484F29FF32D6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87183728-2A1F-4493-E4FD-7828F653C1A5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6F0083B1-D14D-F6D8-7853-207DE22FC2DA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8D6995D0-29CE-A97C-3D4B-F540BC31509F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6F07FAC6-E244-0303-9D18-C5348B53F93A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D9CF6DA3-B789-B275-7673-5A875C0ED0B6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FF1CCA1C-B246-EEE1-484F-8C920B74AFBD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08F6587C-57C9-57B7-68CB-08120BBF8A15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AA43D0FF-57EF-4FF5-1A69-9DC22833EA70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066AB7D2-B278-CC61-065C-E840DAD6A891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2ED82420-F0AC-B0E6-377F-C0D61FD93024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44A3C12C-06AE-5722-BD02-B09F6982F803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09BE3EB8-C556-9D67-B08C-E60FFE62A5EA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847C0E91-CD5B-EB48-CB90-FB2719170BEA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8D6D7D1A-F0A8-B9FB-8FF4-CC38ADA5FE48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3969E97F-0344-1031-EBFA-CF7FA4FDD21D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EC77E349-BA4B-BAD6-5BD2-DC543390DA38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EB68C61B-9306-54F1-2259-EDA5DEA563EA}"/>
              </a:ext>
            </a:extLst>
          </p:cNvPr>
          <p:cNvGrpSpPr/>
          <p:nvPr/>
        </p:nvGrpSpPr>
        <p:grpSpPr>
          <a:xfrm>
            <a:off x="480722" y="-984464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E54F3FD1-9EE4-8F9F-E50E-429606AE3A9A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E34CD727-6EF5-B357-70DF-F58BD7707465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9CD2EDCE-F881-6728-FA88-3BD372E6D5EE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B9917A50-BD71-1324-978E-7B84A4089449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AD5CF0D7-BCB0-F918-B48A-F9C37E4DB46C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128487CE-3767-56E2-E87B-6DD6B6E23778}"/>
              </a:ext>
            </a:extLst>
          </p:cNvPr>
          <p:cNvGrpSpPr/>
          <p:nvPr/>
        </p:nvGrpSpPr>
        <p:grpSpPr>
          <a:xfrm>
            <a:off x="549635" y="-1607152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D8C57817-97C2-87E4-499A-72B6AAD965A5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6337B935-41B7-3D93-6AD5-B1284DEB1BF3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46292ADC-FAC5-E2A5-546A-B1A1D4E30A9A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65601866-4FAE-E26F-359E-9DF80F00A881}"/>
              </a:ext>
            </a:extLst>
          </p:cNvPr>
          <p:cNvGrpSpPr/>
          <p:nvPr/>
        </p:nvGrpSpPr>
        <p:grpSpPr>
          <a:xfrm>
            <a:off x="893429" y="-9009320"/>
            <a:ext cx="10461522" cy="3507475"/>
            <a:chOff x="1094198" y="28634329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B039AD6F-E9B3-7649-BCF3-D043B8427DD8}"/>
                </a:ext>
              </a:extLst>
            </p:cNvPr>
            <p:cNvSpPr/>
            <p:nvPr/>
          </p:nvSpPr>
          <p:spPr>
            <a:xfrm>
              <a:off x="1094198" y="2863432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8C41E202-1E9D-CFA6-7157-5E7031D42406}"/>
                </a:ext>
              </a:extLst>
            </p:cNvPr>
            <p:cNvSpPr txBox="1"/>
            <p:nvPr/>
          </p:nvSpPr>
          <p:spPr>
            <a:xfrm>
              <a:off x="1458340" y="29478514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Bövebben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felhasználói oldalról:</a:t>
              </a: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88F80B55-CAFB-1823-1BD9-40A5197BB60E}"/>
                </a:ext>
              </a:extLst>
            </p:cNvPr>
            <p:cNvSpPr txBox="1"/>
            <p:nvPr/>
          </p:nvSpPr>
          <p:spPr>
            <a:xfrm>
              <a:off x="1596788" y="30299815"/>
              <a:ext cx="91030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felhasználói oldal mint említettem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letisztult, egyszerű és kezelhető felületet biztosít a felhasználók részére. Emellett az átláthatóságra is lett fordítva idő.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498E7627-1508-F55C-1464-DC7549804D9C}"/>
              </a:ext>
            </a:extLst>
          </p:cNvPr>
          <p:cNvGrpSpPr/>
          <p:nvPr/>
        </p:nvGrpSpPr>
        <p:grpSpPr>
          <a:xfrm>
            <a:off x="893429" y="1023315"/>
            <a:ext cx="10461522" cy="3507475"/>
            <a:chOff x="945155" y="32670592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6CAD572B-C99E-7718-4501-E998233BD2E4}"/>
                </a:ext>
              </a:extLst>
            </p:cNvPr>
            <p:cNvSpPr/>
            <p:nvPr/>
          </p:nvSpPr>
          <p:spPr>
            <a:xfrm>
              <a:off x="945155" y="32670592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ED445BD2-B3FB-CF8A-B47C-234E7CD8DBA1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3FD0CA4C-80E6-CA86-1368-B5AEAF5F480C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11BD61E-1541-7EFD-3269-508FF9F264AF}"/>
              </a:ext>
            </a:extLst>
          </p:cNvPr>
          <p:cNvGrpSpPr/>
          <p:nvPr/>
        </p:nvGrpSpPr>
        <p:grpSpPr>
          <a:xfrm>
            <a:off x="1367627" y="26494069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8907E935-EAE7-7777-E264-476416ED1884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AD973195-094E-6062-1BCC-3061A2A09403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D8AE078A-4AB8-8156-C0BA-1F96AEB907AB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BE3E5459-2C0D-7F79-A069-46BE3B2FBE49}"/>
              </a:ext>
            </a:extLst>
          </p:cNvPr>
          <p:cNvGrpSpPr/>
          <p:nvPr/>
        </p:nvGrpSpPr>
        <p:grpSpPr>
          <a:xfrm>
            <a:off x="1367627" y="30136468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0D54A8EE-E022-D42F-5B2B-0A0BDD042F08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FE07585F-2F74-3A66-B9CB-6FDD4E74B6ED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FC1EE3AC-3169-1F8E-2DBC-1D28C42CD48F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74A57A2E-4608-F322-86B9-1B1CF4756FC6}"/>
              </a:ext>
            </a:extLst>
          </p:cNvPr>
          <p:cNvGrpSpPr/>
          <p:nvPr/>
        </p:nvGrpSpPr>
        <p:grpSpPr>
          <a:xfrm>
            <a:off x="1447543" y="33880469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0B490748-DC65-E2E3-0F09-8E229A3A3EDE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DF08EAE8-E7D3-F8B6-A2A3-744A1265F672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1442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2296-0F21-466F-61A4-AA7F9BB4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926CE9A2-43E0-C76A-2262-8B309DC4FC85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B2F1FD92-6C2F-E16F-6BB5-F4614E990ED0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A8589A9E-6574-54C7-87F2-D31EEF24EB24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6785D198-945F-E85D-787C-D433CAD52E3D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1F57492C-3548-1203-38F1-0469D0321EB2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E89B0152-874B-97CB-4AA8-8FB522403D36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51FC8874-6A09-6966-04D4-5C58B4A230C7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C0967B8F-E058-8109-7BF2-CE9939FC5600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8B2DFA9D-0725-F4B1-E29B-C6C34CD4D415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7D7F4A10-6C8A-3888-5DA8-F31CA4EC217A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310F7A15-1FC5-A292-109E-A8EBE3F6982B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1E222DEE-AA54-0038-2222-FE3C46F9C975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BECCC7AD-A8B1-948B-4345-4A273911E35D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D5CC8A5-5C34-FD88-F711-216AE2CFE649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B5887BC9-4D6C-A595-1393-3A96610B1D4A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CE261FD2-F19D-B3C2-3752-179BED0FD27A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6FB440DD-C5C3-5385-E9BF-916950070F38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22095B35-A5FC-0C8A-8CF6-CBEF3EBA56A8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662C902F-4E08-D335-8711-AEC4B25DA7EB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3287C48E-D0F4-E7C7-9007-390E6ACF834F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F6EB1364-169D-64D0-C252-3316492CFB71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837BEB5C-44FE-D8DF-007F-76B584055BE9}"/>
              </a:ext>
            </a:extLst>
          </p:cNvPr>
          <p:cNvGrpSpPr/>
          <p:nvPr/>
        </p:nvGrpSpPr>
        <p:grpSpPr>
          <a:xfrm>
            <a:off x="480722" y="-984464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29F86F2C-5800-0192-7A2A-3B8B5CAD4287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A66AC448-E237-41B3-E265-21E5F8BBA23A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7087247F-10BE-E4C3-4583-7F8796F12921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E1C27F6C-31D6-6C0F-2C19-41BF680E5C4B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FAA76ED3-8170-18A0-CC8F-8E6EF9021D51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F11F6636-3178-5BA2-92FA-2C43160A7FF3}"/>
              </a:ext>
            </a:extLst>
          </p:cNvPr>
          <p:cNvGrpSpPr/>
          <p:nvPr/>
        </p:nvGrpSpPr>
        <p:grpSpPr>
          <a:xfrm>
            <a:off x="549635" y="-1607152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69A09126-CBFB-5A9C-65B0-B363B38628E5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A8C27A43-CA9D-9A6C-65BC-A43F199844EB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73D06C00-9BCE-6421-EA8C-7F98D47207C7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8A011DCA-89DA-9BFA-B19C-45E8D7A70A02}"/>
              </a:ext>
            </a:extLst>
          </p:cNvPr>
          <p:cNvGrpSpPr/>
          <p:nvPr/>
        </p:nvGrpSpPr>
        <p:grpSpPr>
          <a:xfrm>
            <a:off x="893429" y="-9009320"/>
            <a:ext cx="10461522" cy="3507475"/>
            <a:chOff x="1094198" y="28634329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DD91240D-D1A9-989D-B8FB-68CF8DADA1FF}"/>
                </a:ext>
              </a:extLst>
            </p:cNvPr>
            <p:cNvSpPr/>
            <p:nvPr/>
          </p:nvSpPr>
          <p:spPr>
            <a:xfrm>
              <a:off x="1094198" y="2863432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C91F2C9D-1863-2B21-ECED-E7148780F6AA}"/>
                </a:ext>
              </a:extLst>
            </p:cNvPr>
            <p:cNvSpPr txBox="1"/>
            <p:nvPr/>
          </p:nvSpPr>
          <p:spPr>
            <a:xfrm>
              <a:off x="1458340" y="29478514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Bövebben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felhasználói oldalról:</a:t>
              </a: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A7014169-B34D-9213-1F08-C92D78BB101B}"/>
                </a:ext>
              </a:extLst>
            </p:cNvPr>
            <p:cNvSpPr txBox="1"/>
            <p:nvPr/>
          </p:nvSpPr>
          <p:spPr>
            <a:xfrm>
              <a:off x="1596788" y="30299815"/>
              <a:ext cx="91030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felhasználói oldal mint említettem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letisztult, egyszerű és kezelhető felületet biztosít a felhasználók részére. Emellett az átláthatóságra is lett fordítva idő.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86FE8485-833B-38F6-1B65-B944E0892527}"/>
              </a:ext>
            </a:extLst>
          </p:cNvPr>
          <p:cNvGrpSpPr/>
          <p:nvPr/>
        </p:nvGrpSpPr>
        <p:grpSpPr>
          <a:xfrm>
            <a:off x="686243" y="-6922114"/>
            <a:ext cx="10461522" cy="3507475"/>
            <a:chOff x="945155" y="32670592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7B792C2E-6DCF-BD00-9B36-D046B8CCAF10}"/>
                </a:ext>
              </a:extLst>
            </p:cNvPr>
            <p:cNvSpPr/>
            <p:nvPr/>
          </p:nvSpPr>
          <p:spPr>
            <a:xfrm>
              <a:off x="945155" y="32670592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AD3B491C-CE2B-0CAA-194D-45DF5C64D3C7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0E6E739F-C8BF-CCB2-03A3-AE845343230F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DBD59841-99D7-AC2C-6EAC-CC97E5399FC6}"/>
              </a:ext>
            </a:extLst>
          </p:cNvPr>
          <p:cNvGrpSpPr/>
          <p:nvPr/>
        </p:nvGrpSpPr>
        <p:grpSpPr>
          <a:xfrm>
            <a:off x="616091" y="968563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65689634-C0EF-8CAF-46CA-67F2741895E5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1D19A068-908F-E12A-A876-2467DC35A798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50BCEB72-572F-136F-32CA-BB528F67E191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80F42B5B-79AF-6A5F-B0D3-D465F7E5EA92}"/>
              </a:ext>
            </a:extLst>
          </p:cNvPr>
          <p:cNvGrpSpPr/>
          <p:nvPr/>
        </p:nvGrpSpPr>
        <p:grpSpPr>
          <a:xfrm>
            <a:off x="823277" y="12556391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1DE11EC6-0187-484E-1027-FB236ABEEE68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95DF4B13-E9FC-D6E5-76F8-29171FFAC518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6E93A726-DCC1-2BE6-BD97-E040BFE35E80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1B43B029-EC7B-3A1C-2FD3-751B1996D355}"/>
              </a:ext>
            </a:extLst>
          </p:cNvPr>
          <p:cNvGrpSpPr/>
          <p:nvPr/>
        </p:nvGrpSpPr>
        <p:grpSpPr>
          <a:xfrm>
            <a:off x="903193" y="16300392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A0F0A28E-3B86-439A-18FA-D64CBAB53FF1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26FF968C-721E-3587-421B-5179BA7C4421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1793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1095-4D01-FBED-D737-D71A600A7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A8F56393-7807-2131-1511-9F83F071ACD5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ADA566AE-7F74-7893-C7A8-91A5A2245F0A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7B4156D0-17DB-6A88-EFDB-89EACE8E8420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13222A3F-1E12-2DED-5EFC-E2C79DFD7325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0660E4C2-330B-A573-5BE7-6E64D4D0959D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BC14D69E-A81C-56F2-D6DB-CB7343D7E6CD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10935AE0-ED9C-7E35-E988-76B70ECCEC25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BC91EDBE-5C29-97C8-EBFF-20AAEC839EC3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5B252C82-AC65-5021-A562-0548BC3E7F78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D44E4C53-8040-A21D-17E5-9706B1F7DFD9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F62BD461-3265-0089-6E02-229C4AED9FEE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C09D30F8-03DD-66E1-4CAB-DA435EA355B4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96A65994-299C-71C1-AD99-A83462750034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D2A353FF-EF1F-171B-36C0-AFFF0264CE05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EAC1F7AB-9D86-2FE5-3FD0-2E09F31A794F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15FC42D7-AA68-C05A-9F10-38A096EA3605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1405E137-5AA9-C0AD-49A7-90976F703DA8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CB73E390-F904-E9BF-1513-842B003980CA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8FA6EBA4-46E6-A4F3-F279-E986A4916451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A76B76F4-9CE1-47C6-3879-42725A255885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199379A5-6C29-7232-CEDA-95AB11773368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992AC4A5-902D-982A-58AE-3E57B629F36F}"/>
              </a:ext>
            </a:extLst>
          </p:cNvPr>
          <p:cNvGrpSpPr/>
          <p:nvPr/>
        </p:nvGrpSpPr>
        <p:grpSpPr>
          <a:xfrm>
            <a:off x="480722" y="-984464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D832E5C9-44E3-8264-4F7E-818B5B5D6A61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60056813-C73D-F98E-D0BB-52DA149DE93E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197F3299-E44C-4E8F-D590-B5A4B4D94452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E0E1CD95-8211-FC7F-61D9-D76BD6DFD167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8B0352A3-B545-2FF3-A81F-D7D807B28F91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9EE73AE2-68BF-E2BB-0AC2-90135AEA98C0}"/>
              </a:ext>
            </a:extLst>
          </p:cNvPr>
          <p:cNvGrpSpPr/>
          <p:nvPr/>
        </p:nvGrpSpPr>
        <p:grpSpPr>
          <a:xfrm>
            <a:off x="549635" y="-1607152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43D72C67-4EA4-2A30-5A23-FAAC6E690C65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9CCB8EE2-63B5-F783-3553-623C933EAC76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787910CC-291A-0BF8-D7C7-D000DC03CC23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F8882F80-FB64-F01D-01F8-5703420F118D}"/>
              </a:ext>
            </a:extLst>
          </p:cNvPr>
          <p:cNvGrpSpPr/>
          <p:nvPr/>
        </p:nvGrpSpPr>
        <p:grpSpPr>
          <a:xfrm>
            <a:off x="893429" y="-9009320"/>
            <a:ext cx="10461522" cy="3507475"/>
            <a:chOff x="1094198" y="28634329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9101A636-775C-4B02-2E01-84303343CD11}"/>
                </a:ext>
              </a:extLst>
            </p:cNvPr>
            <p:cNvSpPr/>
            <p:nvPr/>
          </p:nvSpPr>
          <p:spPr>
            <a:xfrm>
              <a:off x="1094198" y="2863432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E4514942-7518-ADE9-AC2F-EE8A4047003B}"/>
                </a:ext>
              </a:extLst>
            </p:cNvPr>
            <p:cNvSpPr txBox="1"/>
            <p:nvPr/>
          </p:nvSpPr>
          <p:spPr>
            <a:xfrm>
              <a:off x="1458340" y="29478514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Bövebben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felhasználói oldalról:</a:t>
              </a: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404BD5C0-C102-E89A-35A5-642A870FC5FA}"/>
                </a:ext>
              </a:extLst>
            </p:cNvPr>
            <p:cNvSpPr txBox="1"/>
            <p:nvPr/>
          </p:nvSpPr>
          <p:spPr>
            <a:xfrm>
              <a:off x="1596788" y="30299815"/>
              <a:ext cx="91030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felhasználói oldal mint említettem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letisztult, egyszerű és kezelhető felületet biztosít a felhasználók részére. Emellett az átláthatóságra is lett fordítva idő.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8911E17C-81BD-88F6-5C57-738B01D261DE}"/>
              </a:ext>
            </a:extLst>
          </p:cNvPr>
          <p:cNvGrpSpPr/>
          <p:nvPr/>
        </p:nvGrpSpPr>
        <p:grpSpPr>
          <a:xfrm>
            <a:off x="686243" y="-6922114"/>
            <a:ext cx="10461522" cy="3507475"/>
            <a:chOff x="945155" y="32670592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19E1AC0B-75FD-6B22-5DE5-327488CEB7C1}"/>
                </a:ext>
              </a:extLst>
            </p:cNvPr>
            <p:cNvSpPr/>
            <p:nvPr/>
          </p:nvSpPr>
          <p:spPr>
            <a:xfrm>
              <a:off x="945155" y="32670592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B7264CB4-B8D6-4B36-CB95-2D545FBA5960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9D13ED94-B2F7-C4A2-47C6-BF507DE31D9C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3C8DCDC-45A8-5AA4-9DA7-88F8B030EAFA}"/>
              </a:ext>
            </a:extLst>
          </p:cNvPr>
          <p:cNvGrpSpPr/>
          <p:nvPr/>
        </p:nvGrpSpPr>
        <p:grpSpPr>
          <a:xfrm>
            <a:off x="500302" y="-10804832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368D5EA6-60E4-4B79-0928-0A787C7281A7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0EA15F26-372B-BB07-E34C-E56A2EA367ED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6CAA27B4-3089-9384-D624-385E17ECF08E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5217D87B-DD7C-3CA9-E809-643607402431}"/>
              </a:ext>
            </a:extLst>
          </p:cNvPr>
          <p:cNvGrpSpPr/>
          <p:nvPr/>
        </p:nvGrpSpPr>
        <p:grpSpPr>
          <a:xfrm>
            <a:off x="707488" y="782996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8316F0DB-C25E-0EFE-141D-189AEAD729EA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AF86D381-5E4C-2D40-78F5-496A020BEDD8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7A2FB9F7-E6CB-7CE3-D489-BA34BF85CD0D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B8DF4BD0-2B95-1C90-488C-D4F77D412C29}"/>
              </a:ext>
            </a:extLst>
          </p:cNvPr>
          <p:cNvGrpSpPr/>
          <p:nvPr/>
        </p:nvGrpSpPr>
        <p:grpSpPr>
          <a:xfrm>
            <a:off x="903193" y="16300392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6B32C9FD-B82E-05EE-CD98-0C64A2D3CB10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0C7FAB55-2364-B585-DA67-03A7A2AE4F32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2538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F58B8-9DFA-26BE-4BF4-10A516F38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soportba foglalás 58">
            <a:extLst>
              <a:ext uri="{FF2B5EF4-FFF2-40B4-BE49-F238E27FC236}">
                <a16:creationId xmlns:a16="http://schemas.microsoft.com/office/drawing/2014/main" id="{33837164-4419-2562-0302-57FA83337321}"/>
              </a:ext>
            </a:extLst>
          </p:cNvPr>
          <p:cNvGrpSpPr/>
          <p:nvPr/>
        </p:nvGrpSpPr>
        <p:grpSpPr>
          <a:xfrm>
            <a:off x="938027" y="-5507080"/>
            <a:ext cx="10461522" cy="3507475"/>
            <a:chOff x="865240" y="668739"/>
            <a:chExt cx="10461522" cy="3507475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0224D7E7-674E-59C1-C008-947CBBB4D2E9}"/>
                </a:ext>
              </a:extLst>
            </p:cNvPr>
            <p:cNvSpPr/>
            <p:nvPr/>
          </p:nvSpPr>
          <p:spPr>
            <a:xfrm>
              <a:off x="865240" y="66873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945D58B9-5E52-3247-57CB-A9BCBF9FB9B2}"/>
                </a:ext>
              </a:extLst>
            </p:cNvPr>
            <p:cNvGrpSpPr/>
            <p:nvPr/>
          </p:nvGrpSpPr>
          <p:grpSpPr>
            <a:xfrm>
              <a:off x="1378424" y="941696"/>
              <a:ext cx="9580728" cy="2487304"/>
              <a:chOff x="1378424" y="941696"/>
              <a:chExt cx="9580728" cy="2510514"/>
            </a:xfrm>
          </p:grpSpPr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709B5854-24EB-EB4A-29EA-8842FDA6374F}"/>
                  </a:ext>
                </a:extLst>
              </p:cNvPr>
              <p:cNvSpPr txBox="1"/>
              <p:nvPr/>
            </p:nvSpPr>
            <p:spPr>
              <a:xfrm>
                <a:off x="1378424" y="941696"/>
                <a:ext cx="958072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 </a:t>
                </a:r>
                <a:r>
                  <a:rPr lang="hu-HU" sz="6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Fitness</a:t>
                </a:r>
                <a:r>
                  <a:rPr lang="hu-HU" sz="6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Projekt</a:t>
                </a:r>
              </a:p>
            </p:txBody>
          </p:sp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2A73CC10-DC48-5459-6066-D9DB1D42A7B6}"/>
                  </a:ext>
                </a:extLst>
              </p:cNvPr>
              <p:cNvSpPr txBox="1"/>
              <p:nvPr/>
            </p:nvSpPr>
            <p:spPr>
              <a:xfrm>
                <a:off x="2060812" y="2251881"/>
                <a:ext cx="86390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Készítették:</a:t>
                </a:r>
                <a:b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Pozsgai Nándor</a:t>
                </a:r>
              </a:p>
              <a:p>
                <a:pPr algn="ctr"/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Marino Leonardo Antonio</a:t>
                </a:r>
              </a:p>
            </p:txBody>
          </p:sp>
        </p:grp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CD8D2DDC-9DFD-E041-5C14-E38E2AB26173}"/>
              </a:ext>
            </a:extLst>
          </p:cNvPr>
          <p:cNvGrpSpPr/>
          <p:nvPr/>
        </p:nvGrpSpPr>
        <p:grpSpPr>
          <a:xfrm>
            <a:off x="788782" y="-9126425"/>
            <a:ext cx="10461522" cy="3507475"/>
            <a:chOff x="938027" y="6858000"/>
            <a:chExt cx="10461522" cy="350747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9F200CDF-50E5-4A51-4571-2A4254E3FADB}"/>
                </a:ext>
              </a:extLst>
            </p:cNvPr>
            <p:cNvSpPr/>
            <p:nvPr/>
          </p:nvSpPr>
          <p:spPr>
            <a:xfrm>
              <a:off x="938027" y="68580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0FE63C82-22B5-5178-0F1B-B789B7B90E0D}"/>
                </a:ext>
              </a:extLst>
            </p:cNvPr>
            <p:cNvSpPr txBox="1"/>
            <p:nvPr/>
          </p:nvSpPr>
          <p:spPr>
            <a:xfrm>
              <a:off x="1378424" y="7105650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Célja: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626C4EC2-BB98-4109-D5F1-D3BAB786BE1F}"/>
                </a:ext>
              </a:extLst>
            </p:cNvPr>
            <p:cNvSpPr txBox="1"/>
            <p:nvPr/>
          </p:nvSpPr>
          <p:spPr>
            <a:xfrm>
              <a:off x="1378424" y="8153400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célja az, hogy biztosítson egy egyszerű megoldást az embereknek, hogy könnyedén kereshessenek edzőtermet, fel tudják venni a kapcsolatot személyi edzőkkel, illetve hogy tudjanak posztolni a saját fejlődésükről, ezzel motiválva másokat.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5CC80BE3-2F32-525A-227A-2C13A6AD9E25}"/>
              </a:ext>
            </a:extLst>
          </p:cNvPr>
          <p:cNvGrpSpPr/>
          <p:nvPr/>
        </p:nvGrpSpPr>
        <p:grpSpPr>
          <a:xfrm>
            <a:off x="639537" y="-12681120"/>
            <a:ext cx="10461522" cy="3507475"/>
            <a:chOff x="938027" y="10547051"/>
            <a:chExt cx="10461522" cy="3507475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8E2AF9F2-3034-FAB9-972F-F3CFA84CF82E}"/>
                </a:ext>
              </a:extLst>
            </p:cNvPr>
            <p:cNvSpPr>
              <a:spLocks/>
            </p:cNvSpPr>
            <p:nvPr/>
          </p:nvSpPr>
          <p:spPr>
            <a:xfrm>
              <a:off x="938027" y="1054705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3B26369F-1207-60ED-0F67-B52E247B4C6B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0828450"/>
              <a:ext cx="9321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felépítése: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4AC032E8-155C-54F0-CB99-BBDC69207F75}"/>
                </a:ext>
              </a:extLst>
            </p:cNvPr>
            <p:cNvSpPr txBox="1">
              <a:spLocks/>
            </p:cNvSpPr>
            <p:nvPr/>
          </p:nvSpPr>
          <p:spPr>
            <a:xfrm>
              <a:off x="1378424" y="11674239"/>
              <a:ext cx="958072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két részből áll: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webes részből, mely a felhasználóknak egyszerű kezelést biztosít és felhasználóbarát.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alkalmazás rész, mely a vezetőknek van fenntartva és mellyel tudják moderálni a weboldalon megjelenő tartalmakat.</a:t>
              </a:r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E2C0D6F8-76D5-E135-7CD0-23EF7846586F}"/>
              </a:ext>
            </a:extLst>
          </p:cNvPr>
          <p:cNvGrpSpPr/>
          <p:nvPr/>
        </p:nvGrpSpPr>
        <p:grpSpPr>
          <a:xfrm>
            <a:off x="559621" y="-16330314"/>
            <a:ext cx="10461522" cy="3507475"/>
            <a:chOff x="792451" y="14218301"/>
            <a:chExt cx="10461522" cy="3507475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CF96E103-B082-FBE4-DA9C-8113B6128591}"/>
                </a:ext>
              </a:extLst>
            </p:cNvPr>
            <p:cNvSpPr/>
            <p:nvPr/>
          </p:nvSpPr>
          <p:spPr>
            <a:xfrm>
              <a:off x="792451" y="1421830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ABA2AAAF-17D3-F405-D671-E099016D8313}"/>
                </a:ext>
              </a:extLst>
            </p:cNvPr>
            <p:cNvSpPr txBox="1"/>
            <p:nvPr/>
          </p:nvSpPr>
          <p:spPr>
            <a:xfrm>
              <a:off x="1524000" y="14627905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használatának előnyei: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FF11E204-BB89-E363-B0F4-A8ED5BDC7059}"/>
                </a:ext>
              </a:extLst>
            </p:cNvPr>
            <p:cNvSpPr txBox="1"/>
            <p:nvPr/>
          </p:nvSpPr>
          <p:spPr>
            <a:xfrm>
              <a:off x="1451212" y="15603924"/>
              <a:ext cx="95807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felület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Egyszerű kezelés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Moderált környezet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A0B191D7-F490-BD40-8C8B-D540737D52D6}"/>
              </a:ext>
            </a:extLst>
          </p:cNvPr>
          <p:cNvGrpSpPr/>
          <p:nvPr/>
        </p:nvGrpSpPr>
        <p:grpSpPr>
          <a:xfrm>
            <a:off x="1278917" y="-8294000"/>
            <a:ext cx="10461522" cy="3507475"/>
            <a:chOff x="938027" y="17863500"/>
            <a:chExt cx="10461522" cy="3507475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8737DFC4-628F-968F-92E1-410852F90549}"/>
                </a:ext>
              </a:extLst>
            </p:cNvPr>
            <p:cNvSpPr/>
            <p:nvPr/>
          </p:nvSpPr>
          <p:spPr>
            <a:xfrm>
              <a:off x="938027" y="17863500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960C3E60-F0EA-D65E-B66B-6694C6EC8229}"/>
                </a:ext>
              </a:extLst>
            </p:cNvPr>
            <p:cNvSpPr txBox="1"/>
            <p:nvPr/>
          </p:nvSpPr>
          <p:spPr>
            <a:xfrm>
              <a:off x="1378424" y="18099775"/>
              <a:ext cx="98755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Fejlesztési ötletek:</a:t>
              </a:r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3A3EA94B-6764-AA0A-83FF-77894C820EC3}"/>
                </a:ext>
              </a:extLst>
            </p:cNvPr>
            <p:cNvSpPr txBox="1"/>
            <p:nvPr/>
          </p:nvSpPr>
          <p:spPr>
            <a:xfrm>
              <a:off x="1378424" y="18848325"/>
              <a:ext cx="987554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felület kinézetének fejlesztése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edzők tudjanak feliratkozni ahhoz a teremhez, ahol magán edzéseket tartanak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kódjának módosítása a gyorsabb futás érdekében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Két lépcsős azonosítás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1FE346B1-73F9-4359-AAFF-F092FE14839C}"/>
              </a:ext>
            </a:extLst>
          </p:cNvPr>
          <p:cNvGrpSpPr/>
          <p:nvPr/>
        </p:nvGrpSpPr>
        <p:grpSpPr>
          <a:xfrm>
            <a:off x="480722" y="-9844645"/>
            <a:ext cx="10883993" cy="3533366"/>
            <a:chOff x="938027" y="21523375"/>
            <a:chExt cx="10883993" cy="3533366"/>
          </a:xfrm>
        </p:grpSpPr>
        <p:grpSp>
          <p:nvGrpSpPr>
            <p:cNvPr id="28" name="Csoportba foglalás 27">
              <a:extLst>
                <a:ext uri="{FF2B5EF4-FFF2-40B4-BE49-F238E27FC236}">
                  <a16:creationId xmlns:a16="http://schemas.microsoft.com/office/drawing/2014/main" id="{2584C38B-9BD9-FB52-169F-0904FFB7FB26}"/>
                </a:ext>
              </a:extLst>
            </p:cNvPr>
            <p:cNvGrpSpPr/>
            <p:nvPr/>
          </p:nvGrpSpPr>
          <p:grpSpPr>
            <a:xfrm>
              <a:off x="938027" y="21523375"/>
              <a:ext cx="10461522" cy="3507475"/>
              <a:chOff x="938027" y="21523375"/>
              <a:chExt cx="10461522" cy="3507475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72E9A9D3-E98A-AD10-0692-6600525D207F}"/>
                  </a:ext>
                </a:extLst>
              </p:cNvPr>
              <p:cNvSpPr/>
              <p:nvPr/>
            </p:nvSpPr>
            <p:spPr>
              <a:xfrm>
                <a:off x="938027" y="21523375"/>
                <a:ext cx="10461522" cy="3507475"/>
              </a:xfrm>
              <a:prstGeom prst="roundRect">
                <a:avLst/>
              </a:prstGeom>
              <a:solidFill>
                <a:srgbClr val="54616C"/>
              </a:solidFill>
              <a:effectLst>
                <a:outerShdw blurRad="406400" dist="38100" dir="2700000" sx="103000" sy="103000" algn="tl" rotWithShape="0">
                  <a:prstClr val="black">
                    <a:alpha val="6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E7A5019A-A559-6EB3-4188-1AD5178E891F}"/>
                  </a:ext>
                </a:extLst>
              </p:cNvPr>
              <p:cNvSpPr txBox="1"/>
              <p:nvPr/>
            </p:nvSpPr>
            <p:spPr>
              <a:xfrm>
                <a:off x="1232848" y="21755100"/>
                <a:ext cx="972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Felmérési eredmények:</a:t>
                </a:r>
              </a:p>
            </p:txBody>
          </p:sp>
          <p:sp>
            <p:nvSpPr>
              <p:cNvPr id="26" name="Szövegdoboz 25">
                <a:extLst>
                  <a:ext uri="{FF2B5EF4-FFF2-40B4-BE49-F238E27FC236}">
                    <a16:creationId xmlns:a16="http://schemas.microsoft.com/office/drawing/2014/main" id="{01C4988B-0539-EC66-2F12-558AE0EC068E}"/>
                  </a:ext>
                </a:extLst>
              </p:cNvPr>
              <p:cNvSpPr txBox="1"/>
              <p:nvPr/>
            </p:nvSpPr>
            <p:spPr>
              <a:xfrm>
                <a:off x="1524000" y="22571600"/>
                <a:ext cx="48387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megkérdezettek közül (100 fő) az emberek 89%-a mondta, hogy egy ilyen oldal sokat segítene nekik abban, hogy könnyebben tudjanak boldogulni az edzésben.</a:t>
                </a:r>
              </a:p>
            </p:txBody>
          </p:sp>
        </p:grp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F123B8ED-38A0-3B02-DF03-8AFFF5C615C8}"/>
                </a:ext>
              </a:extLst>
            </p:cNvPr>
            <p:cNvGraphicFramePr/>
            <p:nvPr/>
          </p:nvGraphicFramePr>
          <p:xfrm>
            <a:off x="6983320" y="22025450"/>
            <a:ext cx="4838700" cy="3031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FCFE5576-96DD-2293-597B-6A1EB63A63EE}"/>
              </a:ext>
            </a:extLst>
          </p:cNvPr>
          <p:cNvGrpSpPr/>
          <p:nvPr/>
        </p:nvGrpSpPr>
        <p:grpSpPr>
          <a:xfrm>
            <a:off x="549635" y="-16071521"/>
            <a:ext cx="10461522" cy="3507475"/>
            <a:chOff x="945155" y="25330241"/>
            <a:chExt cx="10461522" cy="3507475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EFC94C43-6CBB-ADD7-0E98-2E83DEFA2FF9}"/>
                </a:ext>
              </a:extLst>
            </p:cNvPr>
            <p:cNvSpPr/>
            <p:nvPr/>
          </p:nvSpPr>
          <p:spPr>
            <a:xfrm>
              <a:off x="945155" y="25330241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952C1912-7693-2E2A-458F-C80BF663820C}"/>
                </a:ext>
              </a:extLst>
            </p:cNvPr>
            <p:cNvSpPr txBox="1"/>
            <p:nvPr/>
          </p:nvSpPr>
          <p:spPr>
            <a:xfrm>
              <a:off x="2467429" y="25614251"/>
              <a:ext cx="7692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 kicsit a programról: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244DD4AA-8403-523E-C2A2-20DEA03C8EF5}"/>
                </a:ext>
              </a:extLst>
            </p:cNvPr>
            <p:cNvSpPr txBox="1"/>
            <p:nvPr/>
          </p:nvSpPr>
          <p:spPr>
            <a:xfrm>
              <a:off x="1305636" y="26278784"/>
              <a:ext cx="735939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program felhasználói része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mögött egy REST FULL API kommunikál az adatbázisban. Az adatbázis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-t alkalmaz. 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felület WPF C# Alkalmazásban íródott.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58FC5068-EFF3-56F0-2E4A-349B0FAEAAAC}"/>
              </a:ext>
            </a:extLst>
          </p:cNvPr>
          <p:cNvGrpSpPr/>
          <p:nvPr/>
        </p:nvGrpSpPr>
        <p:grpSpPr>
          <a:xfrm>
            <a:off x="893429" y="-9009320"/>
            <a:ext cx="10461522" cy="3507475"/>
            <a:chOff x="1094198" y="28634329"/>
            <a:chExt cx="10461522" cy="3507475"/>
          </a:xfrm>
        </p:grpSpPr>
        <p:sp>
          <p:nvSpPr>
            <p:cNvPr id="40" name="Téglalap: lekerekített 39">
              <a:extLst>
                <a:ext uri="{FF2B5EF4-FFF2-40B4-BE49-F238E27FC236}">
                  <a16:creationId xmlns:a16="http://schemas.microsoft.com/office/drawing/2014/main" id="{6718C1E0-CD82-C871-7636-644BB261F61B}"/>
                </a:ext>
              </a:extLst>
            </p:cNvPr>
            <p:cNvSpPr/>
            <p:nvPr/>
          </p:nvSpPr>
          <p:spPr>
            <a:xfrm>
              <a:off x="1094198" y="28634329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3091005D-98EE-9BAA-8D28-D066C049A2DC}"/>
                </a:ext>
              </a:extLst>
            </p:cNvPr>
            <p:cNvSpPr txBox="1"/>
            <p:nvPr/>
          </p:nvSpPr>
          <p:spPr>
            <a:xfrm>
              <a:off x="1458340" y="29478514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Bövebben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felhasználói oldalról:</a:t>
              </a:r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F8911538-A801-B1CB-D9B8-924392C7AF3F}"/>
                </a:ext>
              </a:extLst>
            </p:cNvPr>
            <p:cNvSpPr txBox="1"/>
            <p:nvPr/>
          </p:nvSpPr>
          <p:spPr>
            <a:xfrm>
              <a:off x="1596788" y="30299815"/>
              <a:ext cx="91030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felhasználói oldal mint említettem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-ban íródott, mely letisztult, egyszerű és kezelhető felületet biztosít a felhasználók részére. Emellett az átláthatóságra is lett fordítva idő.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DAE4C422-EB08-9896-B326-D6FD44717621}"/>
              </a:ext>
            </a:extLst>
          </p:cNvPr>
          <p:cNvGrpSpPr/>
          <p:nvPr/>
        </p:nvGrpSpPr>
        <p:grpSpPr>
          <a:xfrm>
            <a:off x="686243" y="-6922114"/>
            <a:ext cx="10461522" cy="3507475"/>
            <a:chOff x="945155" y="32670592"/>
            <a:chExt cx="10461522" cy="3507475"/>
          </a:xfrm>
        </p:grpSpPr>
        <p:sp>
          <p:nvSpPr>
            <p:cNvPr id="41" name="Téglalap: lekerekített 40">
              <a:extLst>
                <a:ext uri="{FF2B5EF4-FFF2-40B4-BE49-F238E27FC236}">
                  <a16:creationId xmlns:a16="http://schemas.microsoft.com/office/drawing/2014/main" id="{6891C7C6-BB85-7A7F-9527-C4438D10667D}"/>
                </a:ext>
              </a:extLst>
            </p:cNvPr>
            <p:cNvSpPr/>
            <p:nvPr/>
          </p:nvSpPr>
          <p:spPr>
            <a:xfrm>
              <a:off x="945155" y="32670592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D74EF9C0-865D-99F0-D789-D5744B169645}"/>
                </a:ext>
              </a:extLst>
            </p:cNvPr>
            <p:cNvSpPr txBox="1"/>
            <p:nvPr/>
          </p:nvSpPr>
          <p:spPr>
            <a:xfrm>
              <a:off x="1378424" y="32985989"/>
              <a:ext cx="9660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WPF oldalról:</a:t>
              </a:r>
            </a:p>
          </p:txBody>
        </p:sp>
        <p:sp>
          <p:nvSpPr>
            <p:cNvPr id="51" name="Szövegdoboz 50">
              <a:extLst>
                <a:ext uri="{FF2B5EF4-FFF2-40B4-BE49-F238E27FC236}">
                  <a16:creationId xmlns:a16="http://schemas.microsoft.com/office/drawing/2014/main" id="{0EEFA6CE-CED9-8BB0-54BD-3127FDEFEBAE}"/>
                </a:ext>
              </a:extLst>
            </p:cNvPr>
            <p:cNvSpPr txBox="1"/>
            <p:nvPr/>
          </p:nvSpPr>
          <p:spPr>
            <a:xfrm>
              <a:off x="1305636" y="33829557"/>
              <a:ext cx="973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WPF (azaz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oldal egy letisztult és egyszerűen kezelhető felületet biztosít az oldal üzemeltetőinek, mely segít abban, hogy egy moderált közösséget lehessen építeni a PM projekt weboldalán.</a:t>
              </a:r>
            </a:p>
          </p:txBody>
        </p: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3895E0D9-605F-B32C-7ECB-1B1FB49D845A}"/>
              </a:ext>
            </a:extLst>
          </p:cNvPr>
          <p:cNvGrpSpPr/>
          <p:nvPr/>
        </p:nvGrpSpPr>
        <p:grpSpPr>
          <a:xfrm>
            <a:off x="500302" y="-10804832"/>
            <a:ext cx="10461522" cy="3507475"/>
            <a:chOff x="938027" y="36368544"/>
            <a:chExt cx="10461522" cy="3507475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087ED431-A780-2C56-5C47-EB7C1EF4B7B1}"/>
                </a:ext>
              </a:extLst>
            </p:cNvPr>
            <p:cNvSpPr/>
            <p:nvPr/>
          </p:nvSpPr>
          <p:spPr>
            <a:xfrm>
              <a:off x="938027" y="363685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1C4E16E1-8B51-8342-628A-009347700E14}"/>
                </a:ext>
              </a:extLst>
            </p:cNvPr>
            <p:cNvSpPr txBox="1"/>
            <p:nvPr/>
          </p:nvSpPr>
          <p:spPr>
            <a:xfrm>
              <a:off x="1312764" y="36634057"/>
              <a:ext cx="96463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 </a:t>
              </a:r>
              <a:r>
                <a:rPr lang="hu-HU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oldalról:</a:t>
              </a:r>
            </a:p>
          </p:txBody>
        </p:sp>
        <p:sp>
          <p:nvSpPr>
            <p:cNvPr id="53" name="Szövegdoboz 52">
              <a:extLst>
                <a:ext uri="{FF2B5EF4-FFF2-40B4-BE49-F238E27FC236}">
                  <a16:creationId xmlns:a16="http://schemas.microsoft.com/office/drawing/2014/main" id="{B393457A-4A02-FEA2-C8DD-C31F28C3DC78}"/>
                </a:ext>
              </a:extLst>
            </p:cNvPr>
            <p:cNvSpPr txBox="1"/>
            <p:nvPr/>
          </p:nvSpPr>
          <p:spPr>
            <a:xfrm>
              <a:off x="1378424" y="37426120"/>
              <a:ext cx="966064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oldal egy letisztult, érthető kommunikációt biztosít az adatbázis és a frontend programrészek között, mellyel lehetővé teszi azok rendeltetés szerű használatát mint a felhasználóknak, mint az üzemeltetőknek.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5E8F9FD1-86A7-C794-A002-14D2747F9912}"/>
              </a:ext>
            </a:extLst>
          </p:cNvPr>
          <p:cNvGrpSpPr/>
          <p:nvPr/>
        </p:nvGrpSpPr>
        <p:grpSpPr>
          <a:xfrm>
            <a:off x="598185" y="-5339306"/>
            <a:ext cx="10461522" cy="3507475"/>
            <a:chOff x="938027" y="40010943"/>
            <a:chExt cx="10461522" cy="3507475"/>
          </a:xfrm>
        </p:grpSpPr>
        <p:sp>
          <p:nvSpPr>
            <p:cNvPr id="43" name="Téglalap: lekerekített 42">
              <a:extLst>
                <a:ext uri="{FF2B5EF4-FFF2-40B4-BE49-F238E27FC236}">
                  <a16:creationId xmlns:a16="http://schemas.microsoft.com/office/drawing/2014/main" id="{2BBE2B69-08CD-09EF-A222-ABB354729EBC}"/>
                </a:ext>
              </a:extLst>
            </p:cNvPr>
            <p:cNvSpPr/>
            <p:nvPr/>
          </p:nvSpPr>
          <p:spPr>
            <a:xfrm>
              <a:off x="938027" y="40010943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B0A38189-4550-FC4F-0BA1-C256AF8EAC08}"/>
                </a:ext>
              </a:extLst>
            </p:cNvPr>
            <p:cNvSpPr txBox="1"/>
            <p:nvPr/>
          </p:nvSpPr>
          <p:spPr>
            <a:xfrm>
              <a:off x="1378424" y="40291657"/>
              <a:ext cx="9580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Bővebben az adatbázisról:</a:t>
              </a:r>
            </a:p>
          </p:txBody>
        </p:sp>
        <p:sp>
          <p:nvSpPr>
            <p:cNvPr id="55" name="Szövegdoboz 54">
              <a:extLst>
                <a:ext uri="{FF2B5EF4-FFF2-40B4-BE49-F238E27FC236}">
                  <a16:creationId xmlns:a16="http://schemas.microsoft.com/office/drawing/2014/main" id="{442CF74C-3AEF-DC4C-0876-DB1B99005A34}"/>
                </a:ext>
              </a:extLst>
            </p:cNvPr>
            <p:cNvSpPr txBox="1"/>
            <p:nvPr/>
          </p:nvSpPr>
          <p:spPr>
            <a:xfrm>
              <a:off x="1458340" y="41157146"/>
              <a:ext cx="94280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 adatbázis mint már említett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MariaDB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-vel íródott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adatgyüjtő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A backend segítségével az adatbázis előre megtervezett módon tárolja az adatokat, emellett biztonsági intézkedésekkel is el lett látva, mint például jelszó </a:t>
              </a:r>
              <a:r>
                <a:rPr lang="hu-HU" sz="2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hashelés</a:t>
              </a:r>
              <a:r>
                <a:rPr lang="hu-HU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(titkosítás).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A4531599-7943-ACA7-8B5D-A20EEAAD2A49}"/>
              </a:ext>
            </a:extLst>
          </p:cNvPr>
          <p:cNvGrpSpPr/>
          <p:nvPr/>
        </p:nvGrpSpPr>
        <p:grpSpPr>
          <a:xfrm>
            <a:off x="828724" y="1240567"/>
            <a:ext cx="10461522" cy="3507475"/>
            <a:chOff x="1017943" y="43754944"/>
            <a:chExt cx="10461522" cy="3507475"/>
          </a:xfrm>
        </p:grpSpPr>
        <p:sp>
          <p:nvSpPr>
            <p:cNvPr id="44" name="Téglalap: lekerekített 43">
              <a:extLst>
                <a:ext uri="{FF2B5EF4-FFF2-40B4-BE49-F238E27FC236}">
                  <a16:creationId xmlns:a16="http://schemas.microsoft.com/office/drawing/2014/main" id="{7B4EBA2A-CB5A-D1AA-2201-8CA0D1C3D4C7}"/>
                </a:ext>
              </a:extLst>
            </p:cNvPr>
            <p:cNvSpPr/>
            <p:nvPr/>
          </p:nvSpPr>
          <p:spPr>
            <a:xfrm>
              <a:off x="1017943" y="43754944"/>
              <a:ext cx="10461522" cy="3507475"/>
            </a:xfrm>
            <a:prstGeom prst="roundRect">
              <a:avLst/>
            </a:prstGeom>
            <a:solidFill>
              <a:srgbClr val="54616C"/>
            </a:solidFill>
            <a:effectLst>
              <a:outerShdw blurRad="406400" dist="38100" dir="2700000" sx="103000" sy="103000" algn="t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Szövegdoboz 55">
              <a:extLst>
                <a:ext uri="{FF2B5EF4-FFF2-40B4-BE49-F238E27FC236}">
                  <a16:creationId xmlns:a16="http://schemas.microsoft.com/office/drawing/2014/main" id="{36B0E54C-B423-E7BA-F018-A5654D4A13C6}"/>
                </a:ext>
              </a:extLst>
            </p:cNvPr>
            <p:cNvSpPr txBox="1"/>
            <p:nvPr/>
          </p:nvSpPr>
          <p:spPr>
            <a:xfrm>
              <a:off x="1596788" y="44123429"/>
              <a:ext cx="91030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Köszönjük a figyelmet!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3367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4332</Words>
  <Application>Microsoft Office PowerPoint</Application>
  <PresentationFormat>Szélesvásznú</PresentationFormat>
  <Paragraphs>384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Pozsgai Nándor</dc:creator>
  <cp:lastModifiedBy>Pozsgai Nándor</cp:lastModifiedBy>
  <cp:revision>3</cp:revision>
  <dcterms:created xsi:type="dcterms:W3CDTF">2025-04-09T08:43:32Z</dcterms:created>
  <dcterms:modified xsi:type="dcterms:W3CDTF">2025-04-09T09:33:58Z</dcterms:modified>
</cp:coreProperties>
</file>